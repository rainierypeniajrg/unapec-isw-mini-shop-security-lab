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Mini Shop Security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C8962E"/>
                </a:solidFill>
                <a:latin typeface="Calibri"/>
              </a:defRPr>
            </a:pPr>
            <a:r>
              <a:t>Fase 1: Red Team — Informe de Pentesting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UNAPEC — Ingenieria de Software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Jean de los Santos · Jose Canelo · Rainiery Peña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Fecha: 2026-10-30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3D6B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E1E1E"/>
                </a:solidFill>
                <a:latin typeface="Calibri"/>
              </a:defRPr>
            </a:pPr>
            <a:r>
              <a:t>1. Objetivo y Alcance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1907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E1E1E"/>
                </a:solidFill>
                <a:latin typeface="Calibri"/>
              </a:defRPr>
            </a:pPr>
            <a:r>
              <a:t>2. Metodologia OWASP + Burp 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4942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E1E1E"/>
                </a:solidFill>
                <a:latin typeface="Calibri"/>
              </a:defRPr>
            </a:pPr>
            <a:r>
              <a:t>3. Arquitectura del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79776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E1E1E"/>
                </a:solidFill>
                <a:latin typeface="Calibri"/>
              </a:defRPr>
            </a:pPr>
            <a:r>
              <a:t>4. Modelo de Amenazas STRIDE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3101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E1E1E"/>
                </a:solidFill>
                <a:latin typeface="Calibri"/>
              </a:defRPr>
            </a:pPr>
            <a:r>
              <a:t>5. Hallazgos (5 vulnerabilidades)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E1E1E"/>
                </a:solidFill>
                <a:latin typeface="Calibri"/>
              </a:defRPr>
            </a:pPr>
            <a:r>
              <a:t>6. Evidencia Burp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70831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E1E1E"/>
                </a:solidFill>
                <a:latin typeface="Calibri"/>
              </a:defRPr>
            </a:pPr>
            <a:r>
              <a:t>7. Reporte CVSS v3.1 Detallado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901183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E1E1E"/>
                </a:solidFill>
                <a:latin typeface="Calibri"/>
              </a:defRPr>
            </a:pPr>
            <a:r>
              <a:t>8. OWASP ZAP Baseline 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431536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E1E1E"/>
                </a:solidFill>
                <a:latin typeface="Calibri"/>
              </a:defRPr>
            </a:pPr>
            <a:r>
              <a:t>9. Matriz de Riesgos e Impacto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6188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E1E1E"/>
                </a:solidFill>
                <a:latin typeface="Calibri"/>
              </a:defRPr>
            </a:pPr>
            <a:r>
              <a:t>10. Recomendaciones (Fase 2: Blue Team)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3D6B"/>
                </a:solidFill>
                <a:latin typeface="Calibri"/>
              </a:defRPr>
            </a:pPr>
            <a:r>
              <a:t>Metodologia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Framework: OWASP Testing Guide v4.2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Herramienta principal: Burp Suite Community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   Proxy -&gt; Repeater -&gt; Intruder -&gt; HTTP 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3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Herramientas complementarias: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   sqlmap v1.10.10 | PyJWT 2.15 | OWASP ZAP Docker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Target: http://127.0.0.1:5081 (loopback only)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8055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Datos 100% sinteticos — zero real data compromised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Arquitectura &amp; Vectores de Ataque</a:t>
            </a:r>
          </a:p>
        </p:txBody>
      </p:sp>
      <p:pic>
        <p:nvPicPr>
          <p:cNvPr id="3" name="Picture 2" descr="arquitectura-ve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31520"/>
            <a:ext cx="116128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Diagrama de Flujo de Datos (DFD)</a:t>
            </a:r>
          </a:p>
        </p:txBody>
      </p:sp>
      <p:pic>
        <p:nvPicPr>
          <p:cNvPr id="3" name="Picture 2" descr="dfd-profes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40080"/>
            <a:ext cx="116128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Modelo de Amenazas STRIDE</a:t>
            </a:r>
          </a:p>
        </p:txBody>
      </p:sp>
      <p:pic>
        <p:nvPicPr>
          <p:cNvPr id="3" name="Picture 2" descr="stride-threat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548640"/>
            <a:ext cx="7589520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STRIDE — Flujo de Amenazas por Componente</a:t>
            </a:r>
          </a:p>
        </p:txBody>
      </p:sp>
      <p:pic>
        <p:nvPicPr>
          <p:cNvPr id="3" name="Picture 2" descr="strid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31520"/>
            <a:ext cx="116128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3D6B"/>
                </a:solidFill>
                <a:latin typeface="Calibri"/>
              </a:defRPr>
            </a:pPr>
            <a:r>
              <a:t>Resumen de Hallazgos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18872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657600"/>
                <a:gridCol w="1371600"/>
                <a:gridCol w="2286000"/>
                <a:gridCol w="1828800"/>
                <a:gridCol w="1645920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Vulnerabilidad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CWE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OWASP 2021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CVSS v3.1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Estado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F1-10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SQL Injection (Time-Based Blind)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CWE-89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A03:2021 - 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5.3 (Medium)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EXPLOTADO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F1-11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Stored XSS + Cookie Theft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CWE-79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A07:2021 - Cross-Site Scripting (XSS)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6.1 (Medium)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EXPLOTADO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F1-12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IDOR / BOLA (Broken Object Level Authorization)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CWE-639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A01:2021 - Broken Access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8.1 (High)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EXPLOTADO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F1-13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Broken Authentication (Enumeration + No Rate Limiting)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CWE-204 / CWE-307 / CWE-208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A07:2021 - Identification and Authentication Failures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5.3 (Medium)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EXPLOTADO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F1-14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JWT Forgery — Privilege Escalation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CWE-345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A02:2021 - Cryptographic Failures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9.6 (Critical)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EXPLOTADO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D6B"/>
                </a:solidFill>
                <a:latin typeface="Calibri"/>
              </a:defRPr>
            </a:pPr>
            <a:r>
              <a:t>F1-10: SQL Injection (Time-Based Blind)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961120" y="228600"/>
            <a:ext cx="2560320" cy="411480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5.3 Medium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CWE: CWE-89      OWASP: A03:2021 -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Vector CVSS: CVSS:3.1/AV:N/AC:L/PR:N/UI:N/S:U/C:L/I:N/A:N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7510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Endpoint: GET /api/products/search?q=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14015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Payload: demo' AND (SELECT 1 FROM pg_sleep(2))=1 --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5292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22960" y="32918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Resultado: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307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  Baseline: 2ms | pg_sleep(2): 2005ms | sqlmap: 8 tablas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9663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22960" y="460857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Impacto: Extraccion de estructura BD, data exfiltration potencial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4748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Remediacion: Reemplazar concatenacion SQL por consultas parametrizadas. Usar EF Core LINQ exclusivamente.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Evidencia Burp Suite — F1-10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0" y="137160"/>
            <a:ext cx="2560320" cy="4114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EVIDENCIA BURP SUITE</a:t>
            </a:r>
          </a:p>
        </p:txBody>
      </p:sp>
      <p:pic>
        <p:nvPicPr>
          <p:cNvPr id="4" name="Picture 3" descr="F1-10-01-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31520"/>
            <a:ext cx="3749039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520439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Calibri"/>
              </a:defRPr>
            </a:pPr>
            <a:r>
              <a:t>F1 10 01 BASELINE</a:t>
            </a:r>
          </a:p>
        </p:txBody>
      </p:sp>
      <p:pic>
        <p:nvPicPr>
          <p:cNvPr id="6" name="Picture 5" descr="F1-10-02-pgsl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731520"/>
            <a:ext cx="374903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3520439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Calibri"/>
              </a:defRPr>
            </a:pPr>
            <a:r>
              <a:t>F1 10 02 PGSLEEP</a:t>
            </a:r>
          </a:p>
        </p:txBody>
      </p:sp>
      <p:pic>
        <p:nvPicPr>
          <p:cNvPr id="8" name="Picture 7" descr="F1-10-03-intruder-tim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731520"/>
            <a:ext cx="3749039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55279" y="3520439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Calibri"/>
              </a:defRPr>
            </a:pPr>
            <a:r>
              <a:t>F1 10 03 INTRUDER TIMING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D6B"/>
                </a:solidFill>
                <a:latin typeface="Calibri"/>
              </a:defRPr>
            </a:pPr>
            <a:r>
              <a:t>F1-11: Stored XSS + Cookie Theft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961120" y="228600"/>
            <a:ext cx="2560320" cy="411480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6.1 Medium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CWE: CWE-79      OWASP: A07:2021 - Cross-Site Scripting (XSS)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Vector CVSS: CVSS:3.1/AV:N/AC:L/PR:N/UI:R/S:C/C:L/I:L/A:N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7510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Endpoint: POST /api/comments → rendered via @Html.Raw()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14015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Payload: &lt;img src=x onerror="fetch('/lab/collect?c='+encodeURIComponent(document.cookie))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5292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22960" y="32918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Resultado: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307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  Cookie theft: /lab/collect HTTP 204 | HttpOnly: AUSENTE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9663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22960" y="460857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Impacto: Robo de sesiones, suplantacion de identidad, phishing interno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4748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Remediacion: Eliminar @Html.Raw() en vistas Razor. Implementar CSP strict-dynamic. Agregar HttpOnly a cookies.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Evidencia Burp Suite — F1-11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0" y="137160"/>
            <a:ext cx="2560320" cy="4114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EVIDENCIA BURP SUITE</a:t>
            </a:r>
          </a:p>
        </p:txBody>
      </p:sp>
      <p:pic>
        <p:nvPicPr>
          <p:cNvPr id="4" name="Picture 3" descr="F1-11-01-comment-p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31520"/>
            <a:ext cx="3749039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520439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Calibri"/>
              </a:defRPr>
            </a:pPr>
            <a:r>
              <a:t>F1 11 01 COMMENT POST</a:t>
            </a:r>
          </a:p>
        </p:txBody>
      </p:sp>
      <p:pic>
        <p:nvPicPr>
          <p:cNvPr id="6" name="Picture 5" descr="F1-11-02-cookie-th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731520"/>
            <a:ext cx="374903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3520439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Calibri"/>
              </a:defRPr>
            </a:pPr>
            <a:r>
              <a:t>F1 11 02 COOKIE THEFT</a:t>
            </a:r>
          </a:p>
        </p:txBody>
      </p:sp>
      <p:pic>
        <p:nvPicPr>
          <p:cNvPr id="8" name="Picture 7" descr="F1-11-03-session-re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731520"/>
            <a:ext cx="3749039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55279" y="3520439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Calibri"/>
              </a:defRPr>
            </a:pPr>
            <a:r>
              <a:t>F1 11 03 SESSION REPLAY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D6B"/>
                </a:solidFill>
                <a:latin typeface="Calibri"/>
              </a:defRPr>
            </a:pPr>
            <a:r>
              <a:t>F1-12: IDOR / BOLA (Broken Object Level Authorization)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961120" y="228600"/>
            <a:ext cx="2560320" cy="411480"/>
          </a:xfrm>
          <a:prstGeom prst="roundRect">
            <a:avLst/>
          </a:prstGeom>
          <a:solidFill>
            <a:srgbClr val="FF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8.1 High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CWE: CWE-639      OWASP: A01:2021 - Broken Access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Vector CVSS: CVSS:3.1/AV:N/AC:L/PR:L/UI:N/S:U/C:H/I:H/A:N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7510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Endpoint: GET/POST /api/cart/{userId} y /api/cart/{userId}/items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14015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Payload: JWT sub=1 (cliente-a) accede a cart userId=2 y userId=3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5292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22960" y="32918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Resultado: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307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  Lectura: HTTP 200 (items ajenos) | Escritura: HTTP 201 (BOLA confirmado)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9663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22960" y="460857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Impacto: Acceso no autorizado a datos y modificacion de carritos de otros usuarios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4748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Remediacion: Implementar verificacion de ownership: comparar userId del JWT con el recurso solicitado.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Evidencia Burp Suite — F1-12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0" y="137160"/>
            <a:ext cx="2560320" cy="4114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EVIDENCIA BURP SUITE</a:t>
            </a:r>
          </a:p>
        </p:txBody>
      </p:sp>
      <p:pic>
        <p:nvPicPr>
          <p:cNvPr id="4" name="Picture 3" descr="F1-12-01-idor-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53035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166359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Calibri"/>
              </a:defRPr>
            </a:pPr>
            <a:r>
              <a:t>F1 12 01 IDOR READ</a:t>
            </a:r>
          </a:p>
        </p:txBody>
      </p:sp>
      <p:pic>
        <p:nvPicPr>
          <p:cNvPr id="6" name="Picture 5" descr="F1-12-02-bola-w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731520"/>
            <a:ext cx="53035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166359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Calibri"/>
              </a:defRPr>
            </a:pPr>
            <a:r>
              <a:t>F1 12 02 BOLA WRITE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D6B"/>
                </a:solidFill>
                <a:latin typeface="Calibri"/>
              </a:defRPr>
            </a:pPr>
            <a:r>
              <a:t>F1-13: Broken Authentication (Enumeration + No Rate Limiting)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961120" y="228600"/>
            <a:ext cx="2560320" cy="411480"/>
          </a:xfrm>
          <a:prstGeom prst="roundRect">
            <a:avLst/>
          </a:prstGeom>
          <a:solidFill>
            <a:srgbClr val="FF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5.3 Medium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CWE: CWE-204 / CWE-307 / CWE-208      OWASP: A07:2021 - Identification and Authentication Failures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Vector CVSS: CVSS:3.1/AV:N/AC:L/PR:N/UI:N/S:U/C:L/I:N/A:N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7510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Endpoint: POST /api/auth/login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14015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Payload: admin-lab: "Contrasena incorrecta" vs noexiste99: "Usuario inexistente"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5292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22960" y="32918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Resultado: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307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  Enumeracion confirmada | 10 intentos sin 429 | Timing side-channel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9663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22960" y="460857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Impacto: Brute force viable, enumeracion facilita ataques dirigidos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4748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Remediacion: Unificar mensajes de error. Implementar rate limiting (HTTP 429). Account lockout tras N intentos.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Evidencia Burp Suite — F1-13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0" y="137160"/>
            <a:ext cx="2560320" cy="4114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EVIDENCIA BURP SUITE</a:t>
            </a:r>
          </a:p>
        </p:txBody>
      </p:sp>
      <p:pic>
        <p:nvPicPr>
          <p:cNvPr id="4" name="Picture 3" descr="F1-13-01-enum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53035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166359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Calibri"/>
              </a:defRPr>
            </a:pPr>
            <a:r>
              <a:t>F1 13 01 ENUMERATION</a:t>
            </a:r>
          </a:p>
        </p:txBody>
      </p:sp>
      <p:pic>
        <p:nvPicPr>
          <p:cNvPr id="6" name="Picture 5" descr="F1-13-02-intruder-brutefo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731520"/>
            <a:ext cx="53035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5166359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Calibri"/>
              </a:defRPr>
            </a:pPr>
            <a:r>
              <a:t>F1 13 02 INTRUDER BRUTEFORCE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D6B"/>
                </a:solidFill>
                <a:latin typeface="Calibri"/>
              </a:defRPr>
            </a:pPr>
            <a:r>
              <a:t>F1-14: JWT Forgery — Privilege Escalation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961120" y="228600"/>
            <a:ext cx="2560320" cy="411480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9.6 Critical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CWE: CWE-345      OWASP: A02:2021 - Cryptographic Failures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Vector CVSS: CVSS:3.1/AV:N/AC:L/PR:L/UI:N/S:C/C:H/I:H/A:N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7510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Endpoint: GET /api/admin (verificacion JWT)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14015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Payload: Secreto HS256: MiniShopLab2026 (15 bytes, zero-padded a 32)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5292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22960" y="32918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Resultado: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307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  Cliente legitimo: 403 | JWT forjado (Admin): 200 | Secreto incorrecto: 401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9663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22960" y="460857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Impacto: Escalamiento total: Cliente -&gt; Admin, lista completa de usuarios expuesta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4748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1E"/>
                </a:solidFill>
                <a:latin typeface="Calibri"/>
              </a:defRPr>
            </a:pPr>
            <a:r>
              <a:t>Remediacion: Rotar secreto a &gt;=256 bits aleatorios. Migrar a RS256. Validar issuer, audience, expiration.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Evidencia Burp Suite — F1-14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0" y="137160"/>
            <a:ext cx="2560320" cy="4114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EVIDENCIA BURP SUITE</a:t>
            </a:r>
          </a:p>
        </p:txBody>
      </p:sp>
      <p:pic>
        <p:nvPicPr>
          <p:cNvPr id="4" name="Picture 3" descr="F1-14-01-jwt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31520"/>
            <a:ext cx="3749039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520439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Calibri"/>
              </a:defRPr>
            </a:pPr>
            <a:r>
              <a:t>F1 14 01 JWT COMPARISON</a:t>
            </a:r>
          </a:p>
        </p:txBody>
      </p:sp>
      <p:pic>
        <p:nvPicPr>
          <p:cNvPr id="6" name="Picture 5" descr="F1-14-02-forge-scri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731520"/>
            <a:ext cx="374903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3520439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Calibri"/>
              </a:defRPr>
            </a:pPr>
            <a:r>
              <a:t>F1 14 02 FORGE SCRIPT</a:t>
            </a:r>
          </a:p>
        </p:txBody>
      </p:sp>
      <p:pic>
        <p:nvPicPr>
          <p:cNvPr id="8" name="Picture 7" descr="F1-14-03-zap-sc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731520"/>
            <a:ext cx="3749039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55279" y="3520439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AAAAA"/>
                </a:solidFill>
                <a:latin typeface="Calibri"/>
              </a:defRPr>
            </a:pPr>
            <a:r>
              <a:t>F1 14 03 ZAP SCAN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CVSS v3.1 — Comparativa de Metricas Base</a:t>
            </a:r>
          </a:p>
        </p:txBody>
      </p:sp>
      <p:pic>
        <p:nvPicPr>
          <p:cNvPr id="3" name="Picture 2" descr="cvss-radar-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457200"/>
            <a:ext cx="9418320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CVSS v3.1 — Puntuacion por Hallazgo</a:t>
            </a:r>
          </a:p>
        </p:txBody>
      </p:sp>
      <p:pic>
        <p:nvPicPr>
          <p:cNvPr id="3" name="Picture 2" descr="cvss-score-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31520"/>
            <a:ext cx="116128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D6B"/>
                </a:solidFill>
                <a:latin typeface="Calibri"/>
              </a:defRPr>
            </a:pPr>
            <a:r>
              <a:t>CVSS v3.1 — Desglose de Metricas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" y="914400"/>
          <a:ext cx="1179576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5108"/>
                <a:gridCol w="1685108"/>
                <a:gridCol w="1685108"/>
                <a:gridCol w="1685108"/>
                <a:gridCol w="1685108"/>
                <a:gridCol w="1685108"/>
                <a:gridCol w="1685112"/>
              </a:tblGrid>
              <a:tr h="5892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Metrica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Nombre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F1-10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F1-11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F1-12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F1-13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F1-14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AV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Attack Vector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Network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Network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Network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Network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Network (N)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Attack Complexity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Low (L)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Low (L)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Low (L)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Low (L)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Low (L)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Privileges Req.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None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None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Low (L)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None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Low (L)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User Interaction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None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Required 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None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None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None (N)</a:t>
                      </a:r>
                    </a:p>
                  </a:txBody>
                  <a:tcPr/>
                </a:tc>
              </a:tr>
              <a:tr h="58928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Unchanged (U)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Changed (C)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Unchanged (U)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Unchanged (U)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Changed (C)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Low (L)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Low (L)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High (H)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Low (L)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High (H)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None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Low (L)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High (H)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None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High (H)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None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None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None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None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/>
                      </a:pPr>
                      <a:r>
                        <a:t>None (N)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Cadena de Ataque — Kill Chain</a:t>
            </a:r>
          </a:p>
        </p:txBody>
      </p:sp>
      <p:pic>
        <p:nvPicPr>
          <p:cNvPr id="3" name="Picture 2" descr="kill-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40080"/>
            <a:ext cx="1161288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Matriz de Impacto por Vulnerabilidad</a:t>
            </a:r>
          </a:p>
        </p:txBody>
      </p:sp>
      <p:pic>
        <p:nvPicPr>
          <p:cNvPr id="3" name="Picture 2" descr="impact-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33272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3D6B"/>
                </a:solidFill>
                <a:latin typeface="Calibri"/>
              </a:defRPr>
            </a:pPr>
            <a:r>
              <a:t>OWASP ZAP Baseline Scan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Herramienta: OWASP ZAP via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91056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Fecha: 2026-10-30  |  Target: http://127.0.0.1:5081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14400" y="2395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Resultados:  59 PASS  |  9 WARN  |  0 FAIL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9806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Alertas Medium: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02736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  CSP Header ausente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0507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  Anti-Clickjacking Header ausente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0740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914400" y="480974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Alertas Low: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  X-Content-Type-Options, Permissions-Policy ausentes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614416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  COEP/COOP/CORP headers ausentes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3D6B"/>
                </a:solidFill>
                <a:latin typeface="Calibri"/>
              </a:defRPr>
            </a:pPr>
            <a:r>
              <a:t>Matriz de Riesgos CVSS v3.1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188720"/>
          <a:ext cx="103327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6544"/>
                <a:gridCol w="2066544"/>
                <a:gridCol w="2066544"/>
                <a:gridCol w="2066544"/>
                <a:gridCol w="2066544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Vulnerabilidad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CVSS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Severidad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OWASP 2021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Prioridad</a:t>
                      </a:r>
                    </a:p>
                  </a:txBody>
                  <a:tcPr>
                    <a:solidFill>
                      <a:srgbClr val="003D6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JWT Forgery (F1-14)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Critical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INMEDIATA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IDOR/BOLA (F1-12)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Alta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XSS + Cookie Theft (F1-11)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Media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SQL Injection (F1-10)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Media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Broken Auth (F1-13)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A07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Media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3D6B"/>
                </a:solidFill>
                <a:latin typeface="Calibri"/>
              </a:defRPr>
            </a:pPr>
            <a:r>
              <a:t>Recomendaciones (Fase 2: Blue Team)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1. JWT: Rotar secreto &gt;=256 bits, migrar a RS256, validar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2. IDOR: Verificar ownership en cada endpoint de carrito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3. XSS: Eliminar @Html.Raw, CSP strict-dynamic, HttpOnly cookies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4. SQLi: Solo consultas parametrizadas via EF Core LINQ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5. Auth: Mensajes genericos, rate limiting (429), account lockout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6. Headers: CSP, X-Content-Type-Options, X-Frame-Options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5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7. Monitoreo: Logging de intentos fallidos, alertas SIEM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1E"/>
                </a:solidFill>
                <a:latin typeface="Calibri"/>
              </a:defRPr>
            </a:pPr>
            <a:r>
              <a:t>8. CI/CD: SAST + DAST en pipeline, ZAP como gate de calidad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Preguntas?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8962E"/>
                </a:solidFill>
                <a:latin typeface="Calibri"/>
              </a:defRPr>
            </a:pPr>
            <a:r>
              <a:t>Mini Shop Security Lab — Fase 1: Red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Jean de los Santos · Jose Canelo · Rainiery Peña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UNAPEC  |  Seguridad de Software ISW  |  2026-10-30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